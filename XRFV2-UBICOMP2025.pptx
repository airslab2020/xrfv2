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0"/>
  </p:notesMasterIdLst>
  <p:sldIdLst>
    <p:sldId id="257" r:id="rId2"/>
    <p:sldId id="256" r:id="rId3"/>
    <p:sldId id="260" r:id="rId4"/>
    <p:sldId id="261" r:id="rId5"/>
    <p:sldId id="288" r:id="rId6"/>
    <p:sldId id="289" r:id="rId7"/>
    <p:sldId id="265" r:id="rId8"/>
    <p:sldId id="267" r:id="rId9"/>
    <p:sldId id="266" r:id="rId10"/>
    <p:sldId id="264" r:id="rId11"/>
    <p:sldId id="268" r:id="rId12"/>
    <p:sldId id="270" r:id="rId13"/>
    <p:sldId id="269" r:id="rId14"/>
    <p:sldId id="271" r:id="rId15"/>
    <p:sldId id="272" r:id="rId16"/>
    <p:sldId id="284" r:id="rId17"/>
    <p:sldId id="287" r:id="rId18"/>
    <p:sldId id="286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8" userDrawn="1">
          <p15:clr>
            <a:srgbClr val="A4A3A4"/>
          </p15:clr>
        </p15:guide>
        <p15:guide id="2" pos="3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9"/>
    <p:restoredTop sz="72169"/>
  </p:normalViewPr>
  <p:slideViewPr>
    <p:cSldViewPr snapToGrid="0" showGuides="1">
      <p:cViewPr varScale="1">
        <p:scale>
          <a:sx n="116" d="100"/>
          <a:sy n="116" d="100"/>
        </p:scale>
        <p:origin x="1926" y="96"/>
      </p:cViewPr>
      <p:guideLst>
        <p:guide orient="horz" pos="958"/>
        <p:guide pos="30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3259BC-1057-8544-AB71-A40C92988074}" type="datetimeFigureOut">
              <a:rPr kumimoji="1" lang="zh-CN" altLang="en-US" smtClean="0"/>
              <a:t>2025/10/16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19CB62-0F6D-7F4A-AA49-547D046ADD8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Good Day, everyone.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the AIOT Group from Xi’an 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Jiaotong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University.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are happy to introduce the XRF-V2 dataset paper, published in the ubicomp 2025.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/>
              <a:t>Bo Lan*, Pei Li*, and </a:t>
            </a:r>
            <a:r>
              <a:rPr lang="en-US" altLang="zh-CN" sz="1200" dirty="0" err="1"/>
              <a:t>Jiaxi</a:t>
            </a:r>
            <a:r>
              <a:rPr lang="en-US" altLang="zh-CN" sz="1200" dirty="0"/>
              <a:t> Yin are graduate student with Xi’an </a:t>
            </a:r>
            <a:r>
              <a:rPr lang="en-US" altLang="zh-CN" sz="1200" dirty="0" err="1"/>
              <a:t>Jiaotong</a:t>
            </a:r>
            <a:r>
              <a:rPr lang="en-US" altLang="zh-CN" sz="1200" dirty="0"/>
              <a:t> University. </a:t>
            </a:r>
            <a:r>
              <a:rPr lang="en-US" altLang="zh-CN" sz="1200" dirty="0" err="1"/>
              <a:t>Yunpeng</a:t>
            </a:r>
            <a:r>
              <a:rPr lang="en-US" altLang="zh-CN" sz="1200" dirty="0"/>
              <a:t> Song, Ge Wang, and Han Ding are faculties with the Xi’an </a:t>
            </a:r>
            <a:r>
              <a:rPr lang="en-US" altLang="zh-CN" sz="1200" dirty="0" err="1"/>
              <a:t>Jiaotong</a:t>
            </a:r>
            <a:r>
              <a:rPr lang="en-US" altLang="zh-CN" sz="1200" dirty="0"/>
              <a:t> University. </a:t>
            </a:r>
            <a:r>
              <a:rPr lang="en-US" altLang="zh-CN" sz="1200" dirty="0" err="1"/>
              <a:t>Jinsong</a:t>
            </a:r>
            <a:r>
              <a:rPr lang="en-US" altLang="zh-CN" sz="1200" dirty="0"/>
              <a:t> Han is a professor with the Zhejiang University.  Fei Wang initiated and led the project.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7AC64F-A1D7-4CCF-B7BE-6B69B3945C12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Last year, we introduced XRF55, a multi-modal radio frequency sensing dataset for 55-class classification. </a:t>
            </a:r>
          </a:p>
          <a:p>
            <a:endParaRPr lang="en-US" altLang="zh-CN" dirty="0"/>
          </a:p>
          <a:p>
            <a:r>
              <a:rPr lang="en-US" altLang="zh-CN" dirty="0"/>
              <a:t>Over the past year, it has garnered considerable attention and has been utilized for experimental evaluation in multiple papers from top-tier conferences, such as </a:t>
            </a:r>
            <a:r>
              <a:rPr lang="en-US" altLang="zh-CN" dirty="0" err="1"/>
              <a:t>Mobicom</a:t>
            </a:r>
            <a:r>
              <a:rPr lang="zh-CN" altLang="en-US" dirty="0"/>
              <a:t>，</a:t>
            </a:r>
            <a:r>
              <a:rPr lang="en-US" altLang="zh-CN" dirty="0"/>
              <a:t>AAAI</a:t>
            </a:r>
            <a:r>
              <a:rPr lang="zh-CN" altLang="en-US" dirty="0"/>
              <a:t>，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ICLR. </a:t>
            </a:r>
          </a:p>
          <a:p>
            <a:endParaRPr lang="en-US" altLang="zh-CN" dirty="0"/>
          </a:p>
          <a:p>
            <a:r>
              <a:rPr lang="en-US" altLang="zh-CN" dirty="0"/>
              <a:t>However, each sample in that dataset represents a 5-second action clip.</a:t>
            </a:r>
          </a:p>
          <a:p>
            <a:endParaRPr lang="en-US" altLang="zh-CN" dirty="0"/>
          </a:p>
          <a:p>
            <a:r>
              <a:rPr lang="en-US" altLang="zh-CN" dirty="0"/>
              <a:t>This year, we are taking a step further by proposing XRF V2, which is a continuous action dataset.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7AC64F-A1D7-4CCF-B7BE-6B69B3945C12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know Human Indoor Action Understanding aims to make our environments intelligent by understanding human actions.</a:t>
            </a: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most established task is Human Action.</a:t>
            </a:r>
          </a:p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 HAR's focus on isolated actions limits its ability to interpret the continuous, flowing nature of daily life. </a:t>
            </a: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altLang="zh-CN" b="0" dirty="0"/>
              <a:t>What’s Next in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Human Indoor Action Understanding </a:t>
            </a:r>
            <a:r>
              <a:rPr lang="zh-CN" altLang="en-US" dirty="0"/>
              <a:t>for building smarter environments?</a:t>
            </a: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7AC64F-A1D7-4CCF-B7BE-6B69B3945C12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dirty="0"/>
              <a:t>We think it could be the Action Summarization task. </a:t>
            </a:r>
          </a:p>
          <a:p>
            <a:endParaRPr lang="en-US" altLang="zh-CN" b="1" dirty="0"/>
          </a:p>
          <a:p>
            <a:r>
              <a:rPr lang="en-US" altLang="zh-CN" dirty="0"/>
              <a:t>As shown in the figure, for a person's continuous activities, Action Summarization can detect the start and end time of each action. </a:t>
            </a:r>
          </a:p>
          <a:p>
            <a:endParaRPr lang="en-US" altLang="zh-CN" dirty="0"/>
          </a:p>
          <a:p>
            <a:r>
              <a:rPr lang="en-US" altLang="zh-CN" dirty="0"/>
              <a:t>Based on these detection results, we can then integrate large language models to generate insights, detect anomalies (e.g., falls, missed medication), and summarize behavior patterns.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7AC64F-A1D7-4CCF-B7BE-6B69B3945C12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advance indoor action summarization, a dedicated dataset is essential, but existing options present several limitations.</a:t>
            </a:r>
          </a:p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 datasets are video-based, designed for specific tasks like cooking or outdoor activities.</a:t>
            </a:r>
          </a:p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While some indoor-focused datasets exist, they have notable constraints. </a:t>
            </a: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example, Ego-ADL lacks critical hand and head motion data and relies on audio, which poses privacy risks. </a:t>
            </a: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WiFiTAD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with only three participants, seven actions, and a single scene.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7AC64F-A1D7-4CCF-B7BE-6B69B3945C12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XRF V2 leverages multi-modal data, combining Wi-Fi signals and IMU data from five wearable devices (smartphones, smartwatches, earbuds, smart glasses) with video recordings. </a:t>
            </a: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was collected across three indoor settings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dining room, study room, and bedroom.</a:t>
            </a:r>
          </a:p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dataset includes 16 participants performing 30 diverse indoor actions, from sleeping to food preparation, yielding over 16 hours of data and 853 annotated sequences.</a:t>
            </a:r>
          </a:p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Compared to 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WiFiTAD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XRF V2 excels in scale, diversity, and modalities.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7AC64F-A1D7-4CCF-B7BE-6B69B3945C12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 dining room, actions like eating or cutting fruit, reflect dietary habits, supporting health monitoring. </a:t>
            </a: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 study room, study activities such as typing or reading, reveal work and study patterns, enabling smart assistants for time management. </a:t>
            </a: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the bedroom, actions like taking medicine and sleeping, track health-related behaviors, aiding real-time health interventions.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7AC64F-A1D7-4CCF-B7BE-6B69B3945C12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In this slide, we present three representative sequences from XRF V2, one for each indoor scenario.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Each sequence typically includes 7–12 actions, with individual actions lasting 5–20 seconds.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These are not random combinations of actions, but rather coherent sequences with contextual and semantic continuity.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7AC64F-A1D7-4CCF-B7BE-6B69B3945C12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We recruited 16 volunteers to perform actions.</a:t>
            </a:r>
          </a:p>
          <a:p>
            <a:endParaRPr lang="en-US" altLang="zh-CN" dirty="0"/>
          </a:p>
          <a:p>
            <a:r>
              <a:rPr lang="en-US" altLang="zh-CN" dirty="0"/>
              <a:t>For annotation, we used an automated method: We pre-set the sequence of actions to be performed and randomly set the start and end times for each one. </a:t>
            </a:r>
          </a:p>
          <a:p>
            <a:endParaRPr lang="en-US" altLang="zh-CN" dirty="0"/>
          </a:p>
          <a:p>
            <a:r>
              <a:rPr lang="en-US" altLang="zh-CN" dirty="0"/>
              <a:t>An automated voice prompt would then announce the next action for the user. Upon hearing the voice, the user would perform the announced action. </a:t>
            </a:r>
          </a:p>
          <a:p>
            <a:endParaRPr lang="en-US" altLang="zh-CN" dirty="0"/>
          </a:p>
          <a:p>
            <a:r>
              <a:rPr lang="en-US" altLang="zh-CN" dirty="0"/>
              <a:t>The pre-set action sequence, along with its start and end times, was then used as the annotation for the sequence.</a:t>
            </a:r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7AC64F-A1D7-4CCF-B7BE-6B69B3945C12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achieve precise action summarization, we introduce 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XRFMamba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 Temporal Action Localization (TAL) method built on the Mamba architecture.</a:t>
            </a: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Mamba architecture excels at modeling long-term dependencies in temporal data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memory efficient.</a:t>
            </a: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Novelly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XRFMamba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detects temporal actions in sequences as detect spatial objects in an image, which both output bounding box of the interests. Thus, we adopt the YOLO framework for our task. </a:t>
            </a: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Like YOLO, 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XRFMamba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generates multiple temporal proposals, refined by Non-Maximum Suppression to remove redundant segments. </a:t>
            </a: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dirty="0"/>
              <a:t>We use the intersection over union (</a:t>
            </a:r>
            <a:r>
              <a:rPr lang="en-US" altLang="zh-CN" dirty="0" err="1"/>
              <a:t>IoU</a:t>
            </a:r>
            <a:r>
              <a:rPr lang="en-US" altLang="zh-CN" dirty="0"/>
              <a:t>) between the predicted action time and the ground truth time, referred to as </a:t>
            </a:r>
            <a:r>
              <a:rPr lang="en-US" altLang="zh-CN" dirty="0" err="1"/>
              <a:t>tIoU</a:t>
            </a:r>
            <a:r>
              <a:rPr lang="en-US" altLang="zh-CN" dirty="0"/>
              <a:t> to evaluate the performance of Temporal Action Localization.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7AC64F-A1D7-4CCF-B7BE-6B69B3945C12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 shown in the table and figures, 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XRFMamba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outperforms existing methods, e.g., achieves a 5.49 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improvement over 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WiFiTAD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with 35% fewer parameters, demonstrating superior accuracy and efficiency.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7AC64F-A1D7-4CCF-B7BE-6B69B3945C12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visualization results clearly confirm that 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XRFMamba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delivers more accurate temporal boundaries than other strong baselines.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7AC64F-A1D7-4CCF-B7BE-6B69B3945C12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assess 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XRFMamba’s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performance in action summarization, we fed its predicted action sequences to large language models (ChatGPT-4, Qwen2.5-Plus, DeepSeek-V3) to generate summaries.</a:t>
            </a:r>
          </a:p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introduced a new metric, Response Meaning Consistency (RMC), to evaluate summary quality by measuring alignment with human-annotated ground truth for actions and their timing. </a:t>
            </a:r>
          </a:p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example, if a prompt asks, “Did the user walk during this period?” and both ground truth and LLM response answer “yes,” it’s a consistent instance.</a:t>
            </a:r>
          </a:p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XRFMamba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consistently earned high RMC scores across all LLMs, supporting the downstream LLM reasoning applications.</a:t>
            </a:r>
          </a:p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have provided more details and all 27 Q&amp;A prompts for action summarization in our paper’s appendix. 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7AC64F-A1D7-4CCF-B7BE-6B69B3945C12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 we tested various device combinations, and results show robust performance even with fewer devices.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proves XRF V2 supports both multi-device setups and flexible user-selected device combinations.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7AC64F-A1D7-4CCF-B7BE-6B69B3945C12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We conducted leave-one-person-out experiments. </a:t>
            </a:r>
          </a:p>
          <a:p>
            <a:endParaRPr lang="en-US" altLang="zh-CN" dirty="0"/>
          </a:p>
          <a:p>
            <a:r>
              <a:rPr lang="en-US" altLang="zh-CN" dirty="0"/>
              <a:t>Additionally, we recruited volunteers to perform a real-world zero-shot evaluation in an unseen apartment.</a:t>
            </a:r>
          </a:p>
          <a:p>
            <a:endParaRPr lang="en-US" altLang="zh-CN" dirty="0"/>
          </a:p>
          <a:p>
            <a:r>
              <a:rPr lang="en-US" altLang="zh-CN" dirty="0"/>
              <a:t>These two results demonstrate that our </a:t>
            </a:r>
            <a:r>
              <a:rPr lang="en-US" altLang="zh-CN" dirty="0" err="1"/>
              <a:t>XFMamba</a:t>
            </a:r>
            <a:r>
              <a:rPr lang="en-US" altLang="zh-CN" dirty="0"/>
              <a:t> has strong generalization capabilities.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7AC64F-A1D7-4CCF-B7BE-6B69B3945C12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envision XRF V2 dataset could open up new research opportunities across multiple fields.</a:t>
            </a:r>
          </a:p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example, XRF V2 serves as a key benchmark for action summarization across daily devices.</a:t>
            </a:r>
          </a:p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also supports weakly-supervised action localization, learning from category labels alone without precise timestamps.</a:t>
            </a:r>
          </a:p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Future work can also explore end-to-end methods. This may involves using LLMs to directly understand and summarize raw Wi-Fi and IMU signals.</a:t>
            </a:r>
          </a:p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Besides, XRF V2 dataset provides c</a:t>
            </a:r>
            <a:r>
              <a:rPr lang="en-US" altLang="zh-CN" dirty="0"/>
              <a:t>ontinuous 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2D pose data, enabling pose estimation, tracking, and prediction.</a:t>
            </a:r>
          </a:p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7AC64F-A1D7-4CCF-B7BE-6B69B3945C12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8E3BD-AE5E-95E2-028B-03786765D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BADD7A-3C02-0B6A-24F6-BE80AB926F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FA2EDFE-98B7-30EC-2FBA-8BC9DCFBA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also plan to extend the dataset to include 3D human pose, 3D human mesh, and </a:t>
            </a:r>
            <a:r>
              <a:rPr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densepose</a:t>
            </a: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data.</a:t>
            </a:r>
          </a:p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XRF V2 can also serve as a high-quality resources for developing and evaluating synthetic IMU and Wi-Fi data generation techniques.</a:t>
            </a:r>
          </a:p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also supports multimodal learning, bridging IMU, Wi-Fi, and video.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764A3F-202E-8DC7-3391-708F2CD08C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7AC64F-A1D7-4CCF-B7BE-6B69B3945C12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3690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Please scan this QR-code to add Dr. Fei Wang on WeChat for discussion and communication.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look forward to feedbacks and collaboration!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Thank you for your attention!</a:t>
            </a: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7AC64F-A1D7-4CCF-B7BE-6B69B3945C12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D7232-2F03-7444-AAF8-1B1BA44F7125}" type="datetimeFigureOut">
              <a:rPr kumimoji="1" lang="zh-CN" altLang="en-US" smtClean="0"/>
              <a:t>2025/10/16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849C-06AF-8C4A-88F0-20135D097F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D7232-2F03-7444-AAF8-1B1BA44F7125}" type="datetimeFigureOut">
              <a:rPr kumimoji="1" lang="zh-CN" altLang="en-US" smtClean="0"/>
              <a:t>2025/10/16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849C-06AF-8C4A-88F0-20135D097F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D7232-2F03-7444-AAF8-1B1BA44F7125}" type="datetimeFigureOut">
              <a:rPr kumimoji="1" lang="zh-CN" altLang="en-US" smtClean="0"/>
              <a:t>2025/10/16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849C-06AF-8C4A-88F0-20135D097F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D7232-2F03-7444-AAF8-1B1BA44F7125}" type="datetimeFigureOut">
              <a:rPr kumimoji="1" lang="zh-CN" altLang="en-US" smtClean="0"/>
              <a:t>2025/10/16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849C-06AF-8C4A-88F0-20135D097F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D7232-2F03-7444-AAF8-1B1BA44F7125}" type="datetimeFigureOut">
              <a:rPr kumimoji="1" lang="zh-CN" altLang="en-US" smtClean="0"/>
              <a:t>2025/10/16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849C-06AF-8C4A-88F0-20135D097F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D7232-2F03-7444-AAF8-1B1BA44F7125}" type="datetimeFigureOut">
              <a:rPr kumimoji="1" lang="zh-CN" altLang="en-US" smtClean="0"/>
              <a:t>2025/10/16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849C-06AF-8C4A-88F0-20135D097F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D7232-2F03-7444-AAF8-1B1BA44F7125}" type="datetimeFigureOut">
              <a:rPr kumimoji="1" lang="zh-CN" altLang="en-US" smtClean="0"/>
              <a:t>2025/10/16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849C-06AF-8C4A-88F0-20135D097F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D7232-2F03-7444-AAF8-1B1BA44F7125}" type="datetimeFigureOut">
              <a:rPr kumimoji="1" lang="zh-CN" altLang="en-US" smtClean="0"/>
              <a:t>2025/10/16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849C-06AF-8C4A-88F0-20135D097F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D7232-2F03-7444-AAF8-1B1BA44F7125}" type="datetimeFigureOut">
              <a:rPr kumimoji="1" lang="zh-CN" altLang="en-US" smtClean="0"/>
              <a:t>2025/10/16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849C-06AF-8C4A-88F0-20135D097F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D7232-2F03-7444-AAF8-1B1BA44F7125}" type="datetimeFigureOut">
              <a:rPr kumimoji="1" lang="zh-CN" altLang="en-US" smtClean="0"/>
              <a:t>2025/10/16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849C-06AF-8C4A-88F0-20135D097F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D7232-2F03-7444-AAF8-1B1BA44F7125}" type="datetimeFigureOut">
              <a:rPr kumimoji="1" lang="zh-CN" altLang="en-US" smtClean="0"/>
              <a:t>2025/10/16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B849C-06AF-8C4A-88F0-20135D097F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6D7232-2F03-7444-AAF8-1B1BA44F7125}" type="datetimeFigureOut">
              <a:rPr kumimoji="1" lang="zh-CN" altLang="en-US" smtClean="0"/>
              <a:t>2025/10/16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4B849C-06AF-8C4A-88F0-20135D097FB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mailto:feynmanw@xjtu.edu.cn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22" y="245170"/>
            <a:ext cx="2233794" cy="59833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0401" y="245170"/>
            <a:ext cx="1994956" cy="55173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91243" y="1189636"/>
            <a:ext cx="9767181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chemeClr val="accent1"/>
                </a:solidFill>
                <a:latin typeface="Open Sans"/>
              </a:rPr>
              <a:t>XRF V2: </a:t>
            </a:r>
            <a:r>
              <a:rPr lang="en-US" altLang="zh-CN" sz="2800" b="1" dirty="0">
                <a:solidFill>
                  <a:srgbClr val="000000"/>
                </a:solidFill>
                <a:latin typeface="unset"/>
              </a:rPr>
              <a:t>A Dataset for Action Summarization with Wi-Fi Signals, and</a:t>
            </a:r>
            <a:r>
              <a:rPr lang="zh-CN" altLang="en-US" sz="2800" b="1" dirty="0">
                <a:solidFill>
                  <a:srgbClr val="000000"/>
                </a:solidFill>
                <a:latin typeface="unset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unset"/>
              </a:rPr>
              <a:t>IMUs in Phones, Watches, Earbuds, and Glasses</a:t>
            </a:r>
          </a:p>
          <a:p>
            <a:endParaRPr lang="en-US" altLang="zh-CN" sz="2800" b="1" dirty="0">
              <a:solidFill>
                <a:srgbClr val="000000"/>
              </a:solidFill>
              <a:latin typeface="Open San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91243" y="2293303"/>
            <a:ext cx="7722218" cy="685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600" dirty="0"/>
              <a:t>Bo Lan*, Pei Li*, </a:t>
            </a:r>
            <a:r>
              <a:rPr lang="en-US" altLang="zh-CN" sz="1600" dirty="0" err="1"/>
              <a:t>Jiaxi</a:t>
            </a:r>
            <a:r>
              <a:rPr lang="en-US" altLang="zh-CN" sz="1600" dirty="0"/>
              <a:t> Yin, </a:t>
            </a:r>
            <a:r>
              <a:rPr lang="en-US" altLang="zh-CN" sz="1600" dirty="0" err="1"/>
              <a:t>Yunpeng</a:t>
            </a:r>
            <a:r>
              <a:rPr lang="en-US" altLang="zh-CN" sz="1600" dirty="0"/>
              <a:t> Song, Ge Wang, Han Ding, </a:t>
            </a:r>
            <a:r>
              <a:rPr lang="en-US" altLang="zh-CN" sz="1600" dirty="0" err="1"/>
              <a:t>Jinson</a:t>
            </a:r>
            <a:r>
              <a:rPr lang="en-US" altLang="zh-CN" sz="1600" dirty="0"/>
              <a:t> Han, </a:t>
            </a:r>
            <a:r>
              <a:rPr lang="en-US" altLang="zh-CN" sz="1600" b="1" dirty="0"/>
              <a:t>Fei Wang</a:t>
            </a:r>
          </a:p>
          <a:p>
            <a:pPr>
              <a:lnSpc>
                <a:spcPct val="125000"/>
              </a:lnSpc>
            </a:pPr>
            <a:r>
              <a:rPr lang="en-US" altLang="zh-CN" sz="1600" dirty="0"/>
              <a:t>*</a:t>
            </a:r>
            <a:r>
              <a:rPr lang="en-GB" altLang="zh-CN" sz="1400" dirty="0">
                <a:solidFill>
                  <a:srgbClr val="000000"/>
                </a:solidFill>
                <a:effectLst/>
              </a:rPr>
              <a:t>Equal contribution.</a:t>
            </a:r>
            <a:r>
              <a:rPr lang="en-US" altLang="zh-CN" sz="1200" dirty="0"/>
              <a:t> </a:t>
            </a:r>
            <a:r>
              <a:rPr lang="en-US" altLang="zh-CN" sz="1400" dirty="0"/>
              <a:t>Fei Wang initiated and led the project. </a:t>
            </a:r>
            <a:r>
              <a:rPr lang="en-US" altLang="zh-CN" sz="1400" dirty="0">
                <a:hlinkClick r:id="rId5"/>
              </a:rPr>
              <a:t>feynmanw@xjtu.edu.cn</a:t>
            </a:r>
            <a:r>
              <a:rPr lang="en-US" altLang="zh-CN" sz="1400" dirty="0"/>
              <a:t>.</a:t>
            </a:r>
            <a:endParaRPr lang="en-US" altLang="zh-CN" sz="1600" dirty="0"/>
          </a:p>
        </p:txBody>
      </p:sp>
      <p:sp>
        <p:nvSpPr>
          <p:cNvPr id="13" name="矩形 12"/>
          <p:cNvSpPr/>
          <p:nvPr/>
        </p:nvSpPr>
        <p:spPr>
          <a:xfrm>
            <a:off x="9448800" y="4313146"/>
            <a:ext cx="2743200" cy="1768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600" b="1" i="1" dirty="0">
                <a:solidFill>
                  <a:schemeClr val="accent1"/>
                </a:solidFill>
              </a:rPr>
              <a:t>: ) scan to access</a:t>
            </a:r>
            <a:r>
              <a:rPr lang="zh-CN" altLang="en-US" sz="1600" b="1" i="1" dirty="0">
                <a:solidFill>
                  <a:schemeClr val="accent1"/>
                </a:solidFill>
              </a:rPr>
              <a:t> </a:t>
            </a:r>
            <a:endParaRPr lang="en-US" altLang="zh-CN" sz="1600" b="1" dirty="0">
              <a:solidFill>
                <a:schemeClr val="accent1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1200" b="1" dirty="0">
                <a:solidFill>
                  <a:schemeClr val="accent1"/>
                </a:solidFill>
              </a:rPr>
              <a:t>- 30 indoor daily activities </a:t>
            </a:r>
          </a:p>
          <a:p>
            <a:pPr>
              <a:lnSpc>
                <a:spcPct val="125000"/>
              </a:lnSpc>
            </a:pPr>
            <a:r>
              <a:rPr lang="en-US" altLang="zh-CN" sz="1200" b="1" dirty="0">
                <a:solidFill>
                  <a:schemeClr val="accent1"/>
                </a:solidFill>
              </a:rPr>
              <a:t>- 853 sequences (16h 16m 8s)</a:t>
            </a:r>
          </a:p>
          <a:p>
            <a:pPr>
              <a:lnSpc>
                <a:spcPct val="125000"/>
              </a:lnSpc>
            </a:pPr>
            <a:r>
              <a:rPr lang="en-US" altLang="zh-CN" sz="1200" b="1" dirty="0">
                <a:solidFill>
                  <a:schemeClr val="accent1"/>
                </a:solidFill>
              </a:rPr>
              <a:t>- 16 volunteers</a:t>
            </a:r>
          </a:p>
          <a:p>
            <a:pPr>
              <a:lnSpc>
                <a:spcPct val="125000"/>
              </a:lnSpc>
            </a:pPr>
            <a:r>
              <a:rPr lang="en-US" altLang="zh-CN" sz="1200" b="1" dirty="0">
                <a:solidFill>
                  <a:schemeClr val="accent1"/>
                </a:solidFill>
              </a:rPr>
              <a:t>- </a:t>
            </a:r>
            <a:r>
              <a:rPr lang="en-US" altLang="zh-CN" sz="1200" b="1" dirty="0">
                <a:solidFill>
                  <a:srgbClr val="FF0000"/>
                </a:solidFill>
              </a:rPr>
              <a:t>Paired</a:t>
            </a:r>
            <a:r>
              <a:rPr lang="en-US" altLang="zh-CN" sz="1200" b="1" dirty="0">
                <a:solidFill>
                  <a:schemeClr val="accent1"/>
                </a:solidFill>
              </a:rPr>
              <a:t> </a:t>
            </a:r>
            <a:r>
              <a:rPr lang="en-GB" altLang="zh-CN" sz="1200" b="1" dirty="0">
                <a:solidFill>
                  <a:schemeClr val="accent1"/>
                </a:solidFill>
              </a:rPr>
              <a:t>Wi-Fi, 6 IMUs, RGB+D+IR</a:t>
            </a:r>
          </a:p>
          <a:p>
            <a:pPr>
              <a:lnSpc>
                <a:spcPct val="125000"/>
              </a:lnSpc>
            </a:pPr>
            <a:r>
              <a:rPr lang="en-GB" altLang="zh-CN" sz="1200" b="1" dirty="0">
                <a:solidFill>
                  <a:schemeClr val="accent1"/>
                </a:solidFill>
              </a:rPr>
              <a:t>- Action localization, Action forecasting, Pose estimation, …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E744-FD97-4603-A10C-8BDD2F9425C4}" type="slidenum">
              <a:rPr lang="zh-CN" altLang="en-US" smtClean="0"/>
              <a:t>1</a:t>
            </a:fld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06340" y="2293303"/>
            <a:ext cx="1928867" cy="1903487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06787" y="12963"/>
            <a:ext cx="2059127" cy="115311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A8A6DC5-67E6-401F-BF18-FC4AC2D7FC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130" y="3319678"/>
            <a:ext cx="8682681" cy="26955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922" y="128978"/>
            <a:ext cx="2233794" cy="59833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922" y="2378304"/>
            <a:ext cx="7893661" cy="3671967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0401" y="128978"/>
            <a:ext cx="1994956" cy="55173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91490" y="807720"/>
            <a:ext cx="7329805" cy="1014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chemeClr val="accent1"/>
                </a:solidFill>
                <a:latin typeface="Open Sans"/>
              </a:rPr>
              <a:t>XRF55: </a:t>
            </a:r>
            <a:r>
              <a:rPr lang="en-US" altLang="zh-CN" sz="2800" b="1" dirty="0">
                <a:solidFill>
                  <a:srgbClr val="000000"/>
                </a:solidFill>
                <a:latin typeface="unset"/>
              </a:rPr>
              <a:t>A Radio Frequency Dataset for Human Indoor Action Analysis</a:t>
            </a:r>
            <a:endParaRPr lang="en-US" altLang="zh-CN" sz="2800" b="1" dirty="0">
              <a:solidFill>
                <a:srgbClr val="000000"/>
              </a:solidFill>
              <a:latin typeface="Open Sans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7249" y="46018"/>
            <a:ext cx="3577992" cy="107299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3988" y="2566484"/>
            <a:ext cx="1994956" cy="1994956"/>
          </a:xfrm>
          <a:prstGeom prst="rect">
            <a:avLst/>
          </a:prstGeom>
        </p:spPr>
      </p:pic>
      <p:sp>
        <p:nvSpPr>
          <p:cNvPr id="12" name="矩形 11"/>
          <p:cNvSpPr/>
          <p:nvPr/>
        </p:nvSpPr>
        <p:spPr>
          <a:xfrm>
            <a:off x="615922" y="1880719"/>
            <a:ext cx="5557429" cy="377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600" dirty="0"/>
              <a:t>Fei Wang,</a:t>
            </a:r>
            <a:r>
              <a:rPr lang="en-US" altLang="zh-CN" sz="1600" b="1" dirty="0"/>
              <a:t> </a:t>
            </a:r>
            <a:r>
              <a:rPr lang="en-US" altLang="zh-CN" sz="1600" dirty="0" err="1"/>
              <a:t>Yizhe</a:t>
            </a:r>
            <a:r>
              <a:rPr lang="en-US" altLang="zh-CN" sz="1600" dirty="0"/>
              <a:t> </a:t>
            </a:r>
            <a:r>
              <a:rPr lang="en-US" altLang="zh-CN" sz="1600" dirty="0" err="1"/>
              <a:t>Lv</a:t>
            </a:r>
            <a:r>
              <a:rPr lang="en-US" altLang="zh-CN" sz="1600" dirty="0"/>
              <a:t>, </a:t>
            </a:r>
            <a:r>
              <a:rPr lang="en-US" altLang="zh-CN" sz="1600" dirty="0" err="1"/>
              <a:t>Mengdie</a:t>
            </a:r>
            <a:r>
              <a:rPr lang="en-US" altLang="zh-CN" sz="1600" dirty="0"/>
              <a:t> Zhu, Han Ding, </a:t>
            </a:r>
            <a:r>
              <a:rPr lang="en-US" altLang="zh-CN" sz="1600" dirty="0" err="1"/>
              <a:t>Jinsong</a:t>
            </a:r>
            <a:r>
              <a:rPr lang="en-US" altLang="zh-CN" sz="1600" dirty="0"/>
              <a:t> Han</a:t>
            </a:r>
          </a:p>
        </p:txBody>
      </p:sp>
      <p:sp>
        <p:nvSpPr>
          <p:cNvPr id="13" name="矩形 12"/>
          <p:cNvSpPr/>
          <p:nvPr/>
        </p:nvSpPr>
        <p:spPr>
          <a:xfrm>
            <a:off x="9340609" y="4322542"/>
            <a:ext cx="2744183" cy="1457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600" b="1" i="1" dirty="0">
                <a:solidFill>
                  <a:schemeClr val="accent1"/>
                </a:solidFill>
              </a:rPr>
              <a:t>: ) scan to access</a:t>
            </a:r>
            <a:endParaRPr lang="en-US" altLang="zh-CN" sz="1600" b="1" dirty="0">
              <a:solidFill>
                <a:schemeClr val="accent1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1400" b="1" dirty="0">
                <a:solidFill>
                  <a:schemeClr val="accent1"/>
                </a:solidFill>
              </a:rPr>
              <a:t>- 55 action classes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>
                <a:solidFill>
                  <a:schemeClr val="accent1"/>
                </a:solidFill>
              </a:rPr>
              <a:t>- 42K samples</a:t>
            </a:r>
          </a:p>
          <a:p>
            <a:pPr>
              <a:lnSpc>
                <a:spcPct val="125000"/>
              </a:lnSpc>
            </a:pPr>
            <a:r>
              <a:rPr lang="en-US" altLang="zh-CN" sz="1400" b="1" dirty="0">
                <a:solidFill>
                  <a:schemeClr val="accent1"/>
                </a:solidFill>
              </a:rPr>
              <a:t>- </a:t>
            </a:r>
            <a:r>
              <a:rPr lang="en-US" altLang="zh-CN" sz="1400" b="1" dirty="0">
                <a:solidFill>
                  <a:srgbClr val="FF0000"/>
                </a:solidFill>
              </a:rPr>
              <a:t>Paired</a:t>
            </a:r>
            <a:r>
              <a:rPr lang="en-US" altLang="zh-CN" sz="1400" b="1" dirty="0">
                <a:solidFill>
                  <a:schemeClr val="accent1"/>
                </a:solidFill>
              </a:rPr>
              <a:t> Wi-Fi, mm-wave radar, 23 RFID tags, </a:t>
            </a:r>
            <a:r>
              <a:rPr lang="en-US" altLang="zh-CN" sz="1400" b="1" dirty="0" err="1">
                <a:solidFill>
                  <a:schemeClr val="accent1"/>
                </a:solidFill>
              </a:rPr>
              <a:t>rgb+d+IR</a:t>
            </a:r>
            <a:r>
              <a:rPr lang="en-US" altLang="zh-CN" sz="1400" b="1" dirty="0">
                <a:solidFill>
                  <a:schemeClr val="accent1"/>
                </a:solidFill>
              </a:rPr>
              <a:t> videos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E744-FD97-4603-A10C-8BDD2F9425C4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91490" y="6244590"/>
            <a:ext cx="8722498" cy="377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600" dirty="0"/>
              <a:t>Cited by: </a:t>
            </a:r>
            <a:r>
              <a:rPr lang="en-US" altLang="en-GB" sz="16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Io</a:t>
            </a:r>
            <a:r>
              <a:rPr lang="en-GB" altLang="zh-CN" sz="16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TCoder</a:t>
            </a:r>
            <a:r>
              <a:rPr lang="en-US" altLang="zh-CN" sz="1600" b="1" dirty="0"/>
              <a:t> </a:t>
            </a:r>
            <a:r>
              <a:rPr lang="en-US" altLang="zh-CN" sz="1600" dirty="0"/>
              <a:t>(</a:t>
            </a:r>
            <a:r>
              <a:rPr lang="en-US" altLang="zh-CN" sz="1600" dirty="0" err="1"/>
              <a:t>MobiCom</a:t>
            </a:r>
            <a:r>
              <a:rPr lang="en-US" altLang="zh-CN" sz="1600" dirty="0"/>
              <a:t> 2024), </a:t>
            </a:r>
            <a:r>
              <a:rPr lang="en-US" altLang="en-GB" sz="1600" b="1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</a:rPr>
              <a:t>Co</a:t>
            </a:r>
            <a:r>
              <a:rPr lang="en-GB" altLang="zh-CN" sz="1600" b="1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</a:rPr>
              <a:t>nSense</a:t>
            </a:r>
            <a:r>
              <a:rPr lang="en-US" altLang="zh-CN" sz="1600" dirty="0"/>
              <a:t> (AAAI 2025), </a:t>
            </a:r>
            <a:r>
              <a:rPr lang="en-US" altLang="zh-CN" sz="16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X-Fi</a:t>
            </a:r>
            <a:r>
              <a:rPr lang="en-US" altLang="zh-CN" sz="1600" b="1" dirty="0"/>
              <a:t> </a:t>
            </a:r>
            <a:r>
              <a:rPr lang="en-US" altLang="zh-CN" sz="1600" dirty="0"/>
              <a:t>(ICLR 2025)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42899" y="394492"/>
            <a:ext cx="10601325" cy="1325563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Human Indoor Action Understanding (HIAU): </a:t>
            </a:r>
            <a:br>
              <a:rPr lang="en-US" altLang="zh-CN" sz="3600" dirty="0"/>
            </a:br>
            <a:r>
              <a:rPr lang="en-US" altLang="zh-CN" sz="3600" dirty="0"/>
              <a:t>Enabling Intelligent Environment</a:t>
            </a:r>
            <a:endParaRPr lang="zh-CN" altLang="en-US" sz="36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E744-FD97-4603-A10C-8BDD2F9425C4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88155" y="1755727"/>
            <a:ext cx="112156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b="1" dirty="0"/>
              <a:t>What is HIAU?</a:t>
            </a:r>
            <a:br>
              <a:rPr lang="en-GB" altLang="zh-CN" dirty="0"/>
            </a:br>
            <a:r>
              <a:rPr lang="en-GB" altLang="zh-CN" dirty="0"/>
              <a:t>Human Indoor Action Understanding (HIAU) is a broad concept focused on enabling intelligent environments through the understanding of human actions. 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924267" y="2714729"/>
            <a:ext cx="54765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b="1" dirty="0"/>
              <a:t>Key applications: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dirty="0"/>
              <a:t>Health monitoring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dirty="0"/>
              <a:t>Smart home automation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dirty="0"/>
              <a:t>Human-computer interaction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488155" y="4056038"/>
            <a:ext cx="1030341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b="1" dirty="0">
                <a:solidFill>
                  <a:srgbClr val="000000"/>
                </a:solidFill>
                <a:effectLst/>
              </a:rPr>
              <a:t>A</a:t>
            </a:r>
            <a:r>
              <a:rPr lang="zh-CN" altLang="en-US" b="1" dirty="0">
                <a:solidFill>
                  <a:srgbClr val="000000"/>
                </a:solidFill>
                <a:effectLst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ffectLst/>
              </a:rPr>
              <a:t>traditional</a:t>
            </a:r>
            <a:r>
              <a:rPr lang="zh-CN" altLang="en-US" b="1" dirty="0">
                <a:solidFill>
                  <a:srgbClr val="000000"/>
                </a:solidFill>
                <a:effectLst/>
              </a:rPr>
              <a:t> </a:t>
            </a:r>
            <a:r>
              <a:rPr lang="en-GB" altLang="zh-CN" b="1" dirty="0">
                <a:solidFill>
                  <a:srgbClr val="000000"/>
                </a:solidFill>
                <a:effectLst/>
              </a:rPr>
              <a:t>studied aspect</a:t>
            </a:r>
            <a:r>
              <a:rPr lang="zh-CN" altLang="en-US" b="1" dirty="0">
                <a:solidFill>
                  <a:srgbClr val="000000"/>
                </a:solidFill>
                <a:effectLst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ffectLst/>
              </a:rPr>
              <a:t>of</a:t>
            </a:r>
            <a:r>
              <a:rPr lang="zh-CN" altLang="en-US" b="1" dirty="0">
                <a:solidFill>
                  <a:srgbClr val="000000"/>
                </a:solidFill>
                <a:effectLst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effectLst/>
              </a:rPr>
              <a:t>HIAU</a:t>
            </a:r>
            <a:r>
              <a:rPr lang="en-US" altLang="zh-CN" b="1" dirty="0">
                <a:solidFill>
                  <a:srgbClr val="000000"/>
                </a:solidFill>
              </a:rPr>
              <a:t>: </a:t>
            </a:r>
            <a:r>
              <a:rPr lang="en-GB" altLang="zh-CN" b="1" dirty="0"/>
              <a:t>HAR </a:t>
            </a:r>
            <a:r>
              <a:rPr lang="en-GB" altLang="zh-CN" dirty="0"/>
              <a:t>(Human Action Recognition)</a:t>
            </a:r>
          </a:p>
          <a:p>
            <a:r>
              <a:rPr lang="en-GB" altLang="zh-CN" dirty="0">
                <a:solidFill>
                  <a:srgbClr val="000000"/>
                </a:solidFill>
                <a:effectLst/>
              </a:rPr>
              <a:t>HAR aims to </a:t>
            </a:r>
            <a:r>
              <a:rPr lang="en-GB" altLang="zh-CN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</a:rPr>
              <a:t>identify discrete human actions </a:t>
            </a:r>
            <a:r>
              <a:rPr lang="en-GB" altLang="zh-CN" dirty="0">
                <a:solidFill>
                  <a:srgbClr val="000000"/>
                </a:solidFill>
                <a:effectLst/>
              </a:rPr>
              <a:t>by leveraging data from diverse modal sensors, such as </a:t>
            </a:r>
            <a:r>
              <a:rPr lang="en-GB" altLang="zh-CN" b="1" dirty="0">
                <a:solidFill>
                  <a:schemeClr val="tx2">
                    <a:lumMod val="50000"/>
                    <a:lumOff val="50000"/>
                  </a:schemeClr>
                </a:solidFill>
                <a:effectLst/>
              </a:rPr>
              <a:t>smartwatches, smartphones, earbuds, smart glasses, and Wi-Fi signals</a:t>
            </a:r>
            <a:endParaRPr lang="en-GB" altLang="zh-CN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24267" y="5292039"/>
            <a:ext cx="97155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b="1" dirty="0"/>
              <a:t>What’s Next in HIAU?</a:t>
            </a:r>
          </a:p>
          <a:p>
            <a:r>
              <a:rPr lang="zh-CN" altLang="en-US" dirty="0"/>
              <a:t>What other tasks are crucial for building smarter environments?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399657" y="5333283"/>
            <a:ext cx="31069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(Walking-&gt;Sit down-&gt;Eat something)</a:t>
            </a:r>
            <a:endParaRPr kumimoji="1" lang="zh-CN" alt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42899" y="394492"/>
            <a:ext cx="10601325" cy="1325563"/>
          </a:xfrm>
        </p:spPr>
        <p:txBody>
          <a:bodyPr>
            <a:normAutofit/>
          </a:bodyPr>
          <a:lstStyle/>
          <a:p>
            <a:r>
              <a:rPr lang="en-GB" altLang="zh-CN" sz="3600" b="1" dirty="0"/>
              <a:t>A New HIAU Task</a:t>
            </a:r>
            <a:r>
              <a:rPr lang="en-GB" altLang="zh-CN" sz="3600" dirty="0"/>
              <a:t>: Action Summarization</a:t>
            </a:r>
            <a:endParaRPr lang="zh-CN" altLang="en-US" sz="36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E744-FD97-4603-A10C-8BDD2F9425C4}" type="slidenum">
              <a:rPr lang="zh-CN" altLang="en-US" smtClean="0"/>
              <a:t>4</a:t>
            </a:fld>
            <a:endParaRPr lang="zh-CN" altLang="en-US"/>
          </a:p>
        </p:txBody>
      </p:sp>
      <p:pic>
        <p:nvPicPr>
          <p:cNvPr id="4" name="图片 3" descr="图形用户界面, 文本, 应用程序&#10;&#10;AI 生成的内容可能不正确。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635" y="1715494"/>
            <a:ext cx="7310743" cy="209282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79425" y="4085934"/>
            <a:ext cx="108981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b="1" dirty="0"/>
              <a:t>Action Summarization: Understanding Continuous 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dirty="0"/>
              <a:t>Recognizing </a:t>
            </a:r>
            <a:r>
              <a:rPr lang="en-GB" altLang="zh-CN" b="1" dirty="0">
                <a:solidFill>
                  <a:srgbClr val="0070C0"/>
                </a:solidFill>
              </a:rPr>
              <a:t>continuous indoor actions</a:t>
            </a:r>
            <a:r>
              <a:rPr lang="en-GB" altLang="zh-CN" dirty="0"/>
              <a:t>, and capturing their start and end times.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dirty="0"/>
              <a:t>Leveraging </a:t>
            </a:r>
            <a:r>
              <a:rPr lang="en-GB" altLang="zh-CN" b="1" dirty="0"/>
              <a:t>large language models (LLMs)</a:t>
            </a:r>
            <a:r>
              <a:rPr lang="en-GB" altLang="zh-CN" dirty="0"/>
              <a:t> to generate insights, detect anomalies (e.g., falls, missed medication), and summarize behavior patterns.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79425" y="5494892"/>
            <a:ext cx="102242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CN" b="1" dirty="0"/>
              <a:t>Key Technology: Temporal Action Localization (TAL):</a:t>
            </a:r>
            <a:br>
              <a:rPr lang="en-GB" altLang="zh-CN" dirty="0"/>
            </a:br>
            <a:r>
              <a:rPr lang="en-GB" altLang="zh-CN" dirty="0"/>
              <a:t>Accurately identifying </a:t>
            </a:r>
            <a:r>
              <a:rPr lang="en-GB" altLang="zh-CN" b="1" dirty="0">
                <a:solidFill>
                  <a:srgbClr val="0070C0"/>
                </a:solidFill>
              </a:rPr>
              <a:t>the start and end times of actions </a:t>
            </a:r>
            <a:r>
              <a:rPr lang="en-GB" altLang="zh-CN" dirty="0"/>
              <a:t>to form the basis for action summarization.</a:t>
            </a:r>
            <a:endParaRPr kumimoji="1"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8084081" y="1617903"/>
            <a:ext cx="406919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1600" b="1" dirty="0"/>
              <a:t>Applications:</a:t>
            </a:r>
            <a:endParaRPr lang="en-GB" altLang="zh-C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1600" b="1" dirty="0">
                <a:solidFill>
                  <a:srgbClr val="0070C0"/>
                </a:solidFill>
              </a:rPr>
              <a:t>Health Monitoring</a:t>
            </a:r>
            <a:r>
              <a:rPr lang="en-GB" altLang="zh-CN" sz="1600" dirty="0"/>
              <a:t>: fitness goals, irregular movement, 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1600" b="1" dirty="0">
                <a:solidFill>
                  <a:srgbClr val="0070C0"/>
                </a:solidFill>
              </a:rPr>
              <a:t>Elderly Care</a:t>
            </a:r>
            <a:r>
              <a:rPr lang="en-GB" altLang="zh-CN" sz="1600" dirty="0"/>
              <a:t>: Detect critical events, missed medication, 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1600" b="1" dirty="0">
                <a:solidFill>
                  <a:srgbClr val="0070C0"/>
                </a:solidFill>
              </a:rPr>
              <a:t>Smart Home Automation</a:t>
            </a:r>
            <a:r>
              <a:rPr lang="en-GB" altLang="zh-CN" sz="1600" dirty="0"/>
              <a:t>: Adaptive responses based on actions, 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1600" b="1" dirty="0">
                <a:solidFill>
                  <a:srgbClr val="0070C0"/>
                </a:solidFill>
              </a:rPr>
              <a:t>Personal Assistants</a:t>
            </a:r>
            <a:r>
              <a:rPr lang="en-GB" altLang="zh-CN" sz="1600" dirty="0"/>
              <a:t>: Summarize daily routines to assist with task planning, 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104002" y="378016"/>
            <a:ext cx="12087998" cy="1325563"/>
          </a:xfrm>
        </p:spPr>
        <p:txBody>
          <a:bodyPr>
            <a:normAutofit/>
          </a:bodyPr>
          <a:lstStyle/>
          <a:p>
            <a:r>
              <a:rPr lang="en-GB" altLang="zh-CN" sz="3600" dirty="0"/>
              <a:t>Existing Datasets </a:t>
            </a:r>
            <a:r>
              <a:rPr lang="en-US" altLang="zh-CN" sz="3600" dirty="0"/>
              <a:t>Present Limitations for </a:t>
            </a:r>
            <a:r>
              <a:rPr lang="en-GB" altLang="zh-CN" sz="3600" dirty="0"/>
              <a:t>Action Summarization</a:t>
            </a:r>
            <a:endParaRPr lang="zh-CN" altLang="en-US" sz="36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E744-FD97-4603-A10C-8BDD2F9425C4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721165" y="1781610"/>
            <a:ext cx="8271036" cy="2183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GB" altLang="zh-CN" b="1" dirty="0"/>
              <a:t>Video-Based TAL Datasets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zh-CN" b="1" dirty="0">
                <a:solidFill>
                  <a:srgbClr val="0070C0"/>
                </a:solidFill>
              </a:rPr>
              <a:t>Task-specific </a:t>
            </a:r>
            <a:r>
              <a:rPr lang="en-US" altLang="en-GB" b="1" dirty="0">
                <a:solidFill>
                  <a:srgbClr val="0070C0"/>
                </a:solidFill>
              </a:rPr>
              <a:t>: </a:t>
            </a:r>
            <a:r>
              <a:rPr lang="en-GB" altLang="zh-CN" dirty="0"/>
              <a:t>YouCook2 , Breakfast Dataset, 50Salads, lacks diversity, not generalizable to other types of everyday indoor activities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zh-CN" b="1" dirty="0">
                <a:solidFill>
                  <a:srgbClr val="0070C0"/>
                </a:solidFill>
                <a:sym typeface="+mn-ea"/>
              </a:rPr>
              <a:t>Focused on outdoor/sport:</a:t>
            </a:r>
            <a:r>
              <a:rPr lang="en-GB" altLang="zh-CN" b="1" dirty="0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en-GB" b="1" dirty="0">
                <a:solidFill>
                  <a:schemeClr val="tx1"/>
                </a:solidFill>
                <a:sym typeface="+mn-ea"/>
              </a:rPr>
              <a:t>F</a:t>
            </a:r>
            <a:r>
              <a:rPr lang="en-GB" altLang="zh-CN" dirty="0" err="1"/>
              <a:t>ineAction</a:t>
            </a:r>
            <a:r>
              <a:rPr lang="en-GB" altLang="zh-CN" dirty="0"/>
              <a:t>, THUMOS14, </a:t>
            </a:r>
            <a:r>
              <a:rPr lang="en-GB" altLang="zh-CN" dirty="0" err="1"/>
              <a:t>ActivityNet</a:t>
            </a:r>
            <a:r>
              <a:rPr lang="en-GB" altLang="zh-CN" dirty="0"/>
              <a:t>, not representative of daily indoor scenarios.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zh-CN" b="1" dirty="0">
                <a:solidFill>
                  <a:srgbClr val="0070C0"/>
                </a:solidFill>
                <a:sym typeface="+mn-ea"/>
              </a:rPr>
              <a:t>Privacy concerns:</a:t>
            </a:r>
            <a:r>
              <a:rPr lang="en-US" altLang="en-GB" b="1" dirty="0">
                <a:solidFill>
                  <a:srgbClr val="FF0000"/>
                </a:solidFill>
                <a:sym typeface="+mn-ea"/>
              </a:rPr>
              <a:t> </a:t>
            </a:r>
            <a:r>
              <a:rPr lang="en-GB" altLang="zh-CN" dirty="0"/>
              <a:t>HACS Segment, </a:t>
            </a:r>
            <a:r>
              <a:rPr lang="en-GB" altLang="zh-CN" dirty="0" err="1"/>
              <a:t>ActivityNet</a:t>
            </a:r>
            <a:r>
              <a:rPr lang="en-GB" altLang="zh-CN" dirty="0"/>
              <a:t>, reliance on cameras limits indoor monitoring applications.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721165" y="4345979"/>
            <a:ext cx="8754517" cy="163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en-GB" altLang="zh-CN" b="1" dirty="0"/>
              <a:t>Indoor-Focused Datasets – Limitations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zh-CN" b="1" dirty="0">
                <a:solidFill>
                  <a:srgbClr val="0070C0"/>
                </a:solidFill>
              </a:rPr>
              <a:t>Ego-ADL </a:t>
            </a:r>
            <a:r>
              <a:rPr lang="en-US" altLang="en-GB" b="1" dirty="0">
                <a:solidFill>
                  <a:srgbClr val="0070C0"/>
                </a:solidFill>
              </a:rPr>
              <a:t>: </a:t>
            </a:r>
            <a:r>
              <a:rPr lang="en-GB" altLang="zh-CN" dirty="0"/>
              <a:t>Lacks key motion-sensing data, missing hands/head movement; privacy concerns due to audio reliance.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zh-CN" b="1" dirty="0">
                <a:solidFill>
                  <a:srgbClr val="0070C0"/>
                </a:solidFill>
              </a:rPr>
              <a:t>WiFiTAD : </a:t>
            </a:r>
            <a:r>
              <a:rPr lang="en-GB" altLang="zh-CN" dirty="0"/>
              <a:t>Small dataset, poor generalizability only three participants, seven actions, a single scene).</a:t>
            </a:r>
            <a:endParaRPr lang="en-GB" altLang="zh-C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42899" y="394492"/>
            <a:ext cx="13973175" cy="1325563"/>
          </a:xfrm>
        </p:spPr>
        <p:txBody>
          <a:bodyPr>
            <a:normAutofit/>
          </a:bodyPr>
          <a:lstStyle/>
          <a:p>
            <a:r>
              <a:rPr lang="en-GB" altLang="zh-CN" sz="3600" b="1" dirty="0"/>
              <a:t>XRF V2: </a:t>
            </a:r>
            <a:r>
              <a:rPr lang="en-GB" altLang="zh-CN" sz="3600" dirty="0"/>
              <a:t>A </a:t>
            </a:r>
            <a:r>
              <a:rPr lang="en-US" altLang="zh-CN" sz="3600" dirty="0"/>
              <a:t>N</a:t>
            </a:r>
            <a:r>
              <a:rPr lang="en-GB" altLang="zh-CN" sz="3600" dirty="0" err="1"/>
              <a:t>ovel</a:t>
            </a:r>
            <a:r>
              <a:rPr lang="en-GB" altLang="zh-CN" sz="3600" dirty="0"/>
              <a:t> Dataset for Indoor</a:t>
            </a:r>
            <a:r>
              <a:rPr lang="zh-CN" altLang="en-US" sz="3600" dirty="0"/>
              <a:t> </a:t>
            </a:r>
            <a:r>
              <a:rPr lang="en-GB" altLang="zh-CN" sz="3600" dirty="0"/>
              <a:t>Action Summarization</a:t>
            </a:r>
            <a:endParaRPr lang="zh-CN" altLang="en-US" sz="36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E744-FD97-4603-A10C-8BDD2F9425C4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79425" y="1561781"/>
            <a:ext cx="10673257" cy="2584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zh-CN" b="1" dirty="0"/>
              <a:t>Multimodal Data</a:t>
            </a:r>
            <a:r>
              <a:rPr lang="en-GB" altLang="zh-CN" dirty="0"/>
              <a:t>: Wi-Fi signals, IMU sensors (smartphones, smartwatches, headphones, smart glasses), synchronized video.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zh-CN" b="1" dirty="0"/>
              <a:t>Diverse Environments</a:t>
            </a:r>
            <a:r>
              <a:rPr lang="en-GB" altLang="zh-CN" dirty="0"/>
              <a:t>: Dining room, study room, bedroom.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zh-CN" b="1" dirty="0"/>
              <a:t>Data</a:t>
            </a:r>
            <a:r>
              <a:rPr lang="zh-CN" altLang="en-US" b="1" dirty="0"/>
              <a:t> </a:t>
            </a:r>
            <a:r>
              <a:rPr lang="en-GB" altLang="zh-CN" b="1" dirty="0"/>
              <a:t>Statistics: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dirty="0"/>
              <a:t>16</a:t>
            </a:r>
            <a:r>
              <a:rPr lang="en-GB" altLang="zh-CN" b="1" dirty="0"/>
              <a:t> </a:t>
            </a:r>
            <a:r>
              <a:rPr lang="en-GB" altLang="zh-CN" dirty="0"/>
              <a:t>participants</a:t>
            </a:r>
            <a:r>
              <a:rPr lang="en-US" altLang="zh-CN" dirty="0"/>
              <a:t>, 30 unique indoor</a:t>
            </a:r>
            <a:r>
              <a:rPr lang="zh-CN" altLang="en-US" dirty="0"/>
              <a:t> </a:t>
            </a:r>
            <a:r>
              <a:rPr lang="en-US" altLang="zh-CN" dirty="0"/>
              <a:t>actions</a:t>
            </a:r>
            <a:endParaRPr lang="en-GB" altLang="zh-CN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altLang="zh-CN" dirty="0">
                <a:solidFill>
                  <a:srgbClr val="4E95D9"/>
                </a:solidFill>
              </a:rPr>
              <a:t>16 hours 16 minutes of recordings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altLang="zh-CN" dirty="0">
                <a:solidFill>
                  <a:srgbClr val="4E95D9"/>
                </a:solidFill>
              </a:rPr>
              <a:t>853 </a:t>
            </a:r>
            <a:r>
              <a:rPr lang="en-GB" altLang="zh-CN" dirty="0"/>
              <a:t>annotated action sequences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altLang="zh-CN" dirty="0"/>
              <a:t>Covers daily activities (e.g., sleeping, cutting fruit, taking medicine).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335769" y="4064699"/>
            <a:ext cx="110180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b="1" dirty="0"/>
              <a:t>Compared to </a:t>
            </a:r>
            <a:r>
              <a:rPr lang="en-GB" altLang="zh-CN" b="1" dirty="0" err="1"/>
              <a:t>WiFiTAD</a:t>
            </a:r>
            <a:r>
              <a:rPr lang="en-GB" altLang="zh-CN" dirty="0"/>
              <a:t>: </a:t>
            </a:r>
            <a:r>
              <a:rPr lang="en-GB" altLang="zh-CN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More comprehensive benchmark</a:t>
            </a:r>
            <a:r>
              <a:rPr lang="en-GB" altLang="zh-CN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  <a:r>
              <a:rPr lang="en-GB" altLang="zh-CN" dirty="0"/>
              <a:t>for action summarization.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EF49167-0B67-418C-8FDA-DE17C643D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849" y="4434031"/>
            <a:ext cx="8960530" cy="1097335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E3DE1192-AB5B-4056-89AD-18D808E59771}"/>
              </a:ext>
            </a:extLst>
          </p:cNvPr>
          <p:cNvGrpSpPr/>
          <p:nvPr/>
        </p:nvGrpSpPr>
        <p:grpSpPr>
          <a:xfrm>
            <a:off x="9296299" y="1944605"/>
            <a:ext cx="2785336" cy="4065155"/>
            <a:chOff x="9148637" y="2003395"/>
            <a:chExt cx="2785336" cy="4065155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13A32B0B-2611-455A-BE70-BF0D6C78B7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4095"/>
            <a:stretch/>
          </p:blipFill>
          <p:spPr>
            <a:xfrm>
              <a:off x="9148637" y="2003395"/>
              <a:ext cx="2073965" cy="4065155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C0D57D29-DBA3-4120-90DF-19933124395D}"/>
                </a:ext>
              </a:extLst>
            </p:cNvPr>
            <p:cNvSpPr/>
            <p:nvPr/>
          </p:nvSpPr>
          <p:spPr>
            <a:xfrm>
              <a:off x="11124683" y="2003395"/>
              <a:ext cx="809290" cy="34417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42899" y="394492"/>
            <a:ext cx="13973175" cy="1325563"/>
          </a:xfrm>
        </p:spPr>
        <p:txBody>
          <a:bodyPr>
            <a:normAutofit/>
          </a:bodyPr>
          <a:lstStyle/>
          <a:p>
            <a:r>
              <a:rPr lang="en-GB" altLang="zh-CN" sz="3600" dirty="0"/>
              <a:t>Diverse Indoor Scenarios &amp; Actions</a:t>
            </a:r>
            <a:endParaRPr lang="zh-CN" altLang="en-US" sz="36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E744-FD97-4603-A10C-8BDD2F9425C4}" type="slidenum">
              <a:rPr lang="zh-CN" altLang="en-US" smtClean="0"/>
              <a:t>7</a:t>
            </a:fld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5694" y="1466014"/>
            <a:ext cx="5988106" cy="200021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57900" y="1720055"/>
            <a:ext cx="47821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b="1" dirty="0"/>
              <a:t>Three Typical Household Scenarios:</a:t>
            </a:r>
            <a:endParaRPr lang="en-GB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b="1" dirty="0"/>
              <a:t>Dining Room</a:t>
            </a:r>
            <a:r>
              <a:rPr lang="en-GB" altLang="zh-CN" dirty="0"/>
              <a:t> → Eating-related 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b="1" dirty="0"/>
              <a:t>Study Room</a:t>
            </a:r>
            <a:r>
              <a:rPr lang="en-GB" altLang="zh-CN" dirty="0"/>
              <a:t> → Work &amp; study activities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b="1" dirty="0"/>
              <a:t>Bedroom</a:t>
            </a:r>
            <a:r>
              <a:rPr lang="en-GB" altLang="zh-CN" dirty="0"/>
              <a:t> → Sleeping &amp; relaxation actions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900" y="3559514"/>
            <a:ext cx="7324571" cy="2603968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904884" y="3906840"/>
            <a:ext cx="4154631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altLang="zh-CN" sz="1600" b="1" dirty="0"/>
              <a:t>Health-related</a:t>
            </a:r>
            <a:r>
              <a:rPr lang="en-GB" altLang="zh-CN" sz="1600" dirty="0"/>
              <a:t>: Taking medicine, drinking water, washing hands, stretching, …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altLang="zh-CN" sz="1600" b="1" dirty="0"/>
              <a:t>Device interaction</a:t>
            </a:r>
            <a:r>
              <a:rPr lang="en-GB" altLang="zh-CN" sz="1600" dirty="0"/>
              <a:t>: Opening curtains, turning on lights</a:t>
            </a:r>
            <a:r>
              <a:rPr lang="en-US" altLang="zh-CN" sz="1600" dirty="0"/>
              <a:t>, …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/>
              <a:t>Others</a:t>
            </a:r>
            <a:r>
              <a:rPr lang="en-US" altLang="zh-CN" sz="1600" dirty="0"/>
              <a:t>: Write, Answer the phone, …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42899" y="394492"/>
            <a:ext cx="13973175" cy="1325563"/>
          </a:xfrm>
        </p:spPr>
        <p:txBody>
          <a:bodyPr>
            <a:normAutofit/>
          </a:bodyPr>
          <a:lstStyle/>
          <a:p>
            <a:r>
              <a:rPr lang="en-GB" altLang="zh-CN" sz="3600" dirty="0"/>
              <a:t>Continuous Action Sequences Example</a:t>
            </a:r>
            <a:endParaRPr lang="zh-CN" altLang="en-US" sz="36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E744-FD97-4603-A10C-8BDD2F9425C4}" type="slidenum">
              <a:rPr lang="zh-CN" altLang="en-US" smtClean="0"/>
              <a:t>8</a:t>
            </a:fld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909" y="1332253"/>
            <a:ext cx="10486181" cy="244393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934" y="3817835"/>
            <a:ext cx="10358131" cy="85612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2533" y="5587327"/>
            <a:ext cx="10358131" cy="88354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6934" y="4673956"/>
            <a:ext cx="10358131" cy="9407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42899" y="394492"/>
            <a:ext cx="13973175" cy="1325563"/>
          </a:xfrm>
        </p:spPr>
        <p:txBody>
          <a:bodyPr>
            <a:normAutofit/>
          </a:bodyPr>
          <a:lstStyle/>
          <a:p>
            <a:r>
              <a:rPr lang="en-GB" altLang="zh-CN" sz="3600" dirty="0"/>
              <a:t>How</a:t>
            </a:r>
            <a:r>
              <a:rPr lang="zh-CN" altLang="en-US" sz="3600" dirty="0"/>
              <a:t> </a:t>
            </a:r>
            <a:r>
              <a:rPr lang="en-GB" altLang="zh-CN" sz="3600" dirty="0"/>
              <a:t>Was the XRF V2 Dataset Collected and </a:t>
            </a:r>
            <a:r>
              <a:rPr lang="en-US" altLang="zh-CN" sz="3600" dirty="0"/>
              <a:t>Annotated</a:t>
            </a:r>
            <a:r>
              <a:rPr lang="en-GB" altLang="zh-CN" sz="3600" dirty="0"/>
              <a:t>?</a:t>
            </a:r>
            <a:endParaRPr lang="zh-CN" altLang="en-US" sz="36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E744-FD97-4603-A10C-8BDD2F9425C4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658499" y="1623396"/>
            <a:ext cx="285000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altLang="zh-CN" dirty="0"/>
              <a:t>Recruit Volunteers</a:t>
            </a:r>
            <a:endParaRPr kumimoji="1"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658499" y="2634338"/>
            <a:ext cx="285000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altLang="zh-CN" dirty="0"/>
              <a:t>Action Habit Sequences 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658499" y="3645280"/>
            <a:ext cx="285000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GB" altLang="zh-CN" dirty="0"/>
              <a:t>Adjust Action Duration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479425" y="4656222"/>
            <a:ext cx="3208155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altLang="zh-CN" dirty="0"/>
              <a:t>Automatically Annotate Data </a:t>
            </a:r>
            <a:endParaRPr lang="zh-CN" altLang="en-US" dirty="0"/>
          </a:p>
        </p:txBody>
      </p:sp>
      <p:cxnSp>
        <p:nvCxnSpPr>
          <p:cNvPr id="18" name="直线箭头连接符 17"/>
          <p:cNvCxnSpPr>
            <a:stCxn id="7" idx="2"/>
            <a:endCxn id="10" idx="0"/>
          </p:cNvCxnSpPr>
          <p:nvPr/>
        </p:nvCxnSpPr>
        <p:spPr>
          <a:xfrm>
            <a:off x="2083502" y="1992728"/>
            <a:ext cx="0" cy="641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直线箭头连接符 19"/>
          <p:cNvCxnSpPr/>
          <p:nvPr/>
        </p:nvCxnSpPr>
        <p:spPr>
          <a:xfrm>
            <a:off x="2083502" y="3003670"/>
            <a:ext cx="0" cy="641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1" name="直线箭头连接符 20"/>
          <p:cNvCxnSpPr/>
          <p:nvPr/>
        </p:nvCxnSpPr>
        <p:spPr>
          <a:xfrm>
            <a:off x="2040899" y="4014612"/>
            <a:ext cx="0" cy="6416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0175" y="4333911"/>
            <a:ext cx="7103470" cy="2129597"/>
          </a:xfrm>
          <a:prstGeom prst="rect">
            <a:avLst/>
          </a:prstGeom>
        </p:spPr>
      </p:pic>
      <p:sp>
        <p:nvSpPr>
          <p:cNvPr id="24" name="文本框 23"/>
          <p:cNvSpPr txBox="1"/>
          <p:nvPr/>
        </p:nvSpPr>
        <p:spPr>
          <a:xfrm>
            <a:off x="4010129" y="1484896"/>
            <a:ext cx="712256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b="1" dirty="0"/>
              <a:t>16 volunteers</a:t>
            </a:r>
            <a:r>
              <a:rPr lang="en-GB" altLang="zh-CN" dirty="0"/>
              <a:t> aged 22-34, with heights between 1.57-1.82 meters and weights from 43-90 kg.</a:t>
            </a:r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4010129" y="2434198"/>
            <a:ext cx="71578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dirty="0"/>
              <a:t>Collect each volunteer’s </a:t>
            </a:r>
            <a:r>
              <a:rPr lang="en-GB" altLang="zh-CN" b="1" dirty="0"/>
              <a:t>personal habitual action sequences</a:t>
            </a:r>
            <a:r>
              <a:rPr lang="en-GB" altLang="zh-CN" dirty="0"/>
              <a:t> based on their daily routines in different indoor environments.</a:t>
            </a:r>
            <a:endParaRPr lang="zh-CN" altLang="en-US" dirty="0"/>
          </a:p>
        </p:txBody>
      </p:sp>
      <p:sp>
        <p:nvSpPr>
          <p:cNvPr id="29" name="文本框 28"/>
          <p:cNvSpPr txBox="1"/>
          <p:nvPr/>
        </p:nvSpPr>
        <p:spPr>
          <a:xfrm>
            <a:off x="4010129" y="3432443"/>
            <a:ext cx="715780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b="1" dirty="0"/>
              <a:t>Adjust action durations</a:t>
            </a:r>
            <a:r>
              <a:rPr lang="en-GB" altLang="zh-CN" dirty="0"/>
              <a:t> to ensure sequences are realistic, typically ranging from 5-20 seconds, to ensure efficiency in data collection.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42899" y="394492"/>
            <a:ext cx="10701339" cy="1325563"/>
          </a:xfrm>
        </p:spPr>
        <p:txBody>
          <a:bodyPr>
            <a:normAutofit/>
          </a:bodyPr>
          <a:lstStyle/>
          <a:p>
            <a:r>
              <a:rPr lang="en-GB" altLang="zh-CN" sz="3600" dirty="0" err="1"/>
              <a:t>XRFMamba</a:t>
            </a:r>
            <a:r>
              <a:rPr lang="en-GB" altLang="zh-CN" sz="3600" dirty="0"/>
              <a:t>: Advancing Temporal Action Localization for Action Summarization</a:t>
            </a:r>
            <a:endParaRPr lang="zh-CN" altLang="en-US" sz="36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E744-FD97-4603-A10C-8BDD2F9425C4}" type="slidenum">
              <a:rPr lang="zh-CN" altLang="en-US" smtClean="0"/>
              <a:t>10</a:t>
            </a:fld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797" y="2160360"/>
            <a:ext cx="9790406" cy="230147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5936" y="4605838"/>
            <a:ext cx="4427396" cy="1081756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479423" y="1737678"/>
            <a:ext cx="105117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b="1" dirty="0" err="1"/>
              <a:t>XRFMamba</a:t>
            </a:r>
            <a:r>
              <a:rPr lang="en-US" altLang="zh-CN" b="1" dirty="0"/>
              <a:t>: </a:t>
            </a:r>
            <a:r>
              <a:rPr lang="en-US" altLang="zh-CN" dirty="0" err="1"/>
              <a:t>i</a:t>
            </a:r>
            <a:r>
              <a:rPr lang="en-GB" altLang="zh-CN" dirty="0"/>
              <a:t>s designed to accurately perform Temporal Action Localization (TAL)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479424" y="4666765"/>
            <a:ext cx="72381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1600" b="1" dirty="0"/>
              <a:t>Leveraging Mamba Architecture:</a:t>
            </a:r>
            <a:br>
              <a:rPr lang="en-GB" altLang="zh-CN" sz="1600" dirty="0"/>
            </a:br>
            <a:r>
              <a:rPr lang="en-GB" altLang="zh-CN" sz="1600" dirty="0"/>
              <a:t>Based on the </a:t>
            </a:r>
            <a:r>
              <a:rPr lang="en-GB" altLang="zh-CN" sz="1600" b="1" dirty="0"/>
              <a:t>State Space Model (SSM)</a:t>
            </a:r>
            <a:r>
              <a:rPr lang="en-GB" altLang="zh-CN" sz="1600" dirty="0"/>
              <a:t> and </a:t>
            </a:r>
            <a:r>
              <a:rPr lang="en-GB" altLang="zh-CN" sz="1600" b="1" dirty="0"/>
              <a:t>Mamba blocks</a:t>
            </a:r>
            <a:r>
              <a:rPr lang="en-GB" altLang="zh-CN" sz="1600" dirty="0"/>
              <a:t>, </a:t>
            </a:r>
            <a:r>
              <a:rPr lang="en-GB" altLang="zh-CN" sz="1600" dirty="0" err="1"/>
              <a:t>XRFMamba</a:t>
            </a:r>
            <a:r>
              <a:rPr lang="en-GB" altLang="zh-CN" sz="1600" dirty="0"/>
              <a:t> excels at capturing </a:t>
            </a:r>
            <a:r>
              <a:rPr lang="en-GB" altLang="zh-CN" sz="1600" b="1" dirty="0"/>
              <a:t>long-term dependencies</a:t>
            </a:r>
            <a:r>
              <a:rPr lang="en-GB" altLang="zh-CN" sz="1600" dirty="0"/>
              <a:t> in temporal sequences</a:t>
            </a:r>
            <a:endParaRPr lang="zh-CN" altLang="en-US" sz="1600" dirty="0"/>
          </a:p>
        </p:txBody>
      </p:sp>
      <p:sp>
        <p:nvSpPr>
          <p:cNvPr id="15" name="文本框 14"/>
          <p:cNvSpPr txBox="1"/>
          <p:nvPr/>
        </p:nvSpPr>
        <p:spPr>
          <a:xfrm>
            <a:off x="479423" y="5630508"/>
            <a:ext cx="1137390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1600" b="1" dirty="0"/>
              <a:t>TAL Process in </a:t>
            </a:r>
            <a:r>
              <a:rPr lang="en-GB" altLang="zh-CN" sz="1600" b="1" dirty="0" err="1"/>
              <a:t>XRFMamba</a:t>
            </a:r>
            <a:r>
              <a:rPr lang="en-GB" altLang="zh-CN" sz="1600" b="1" dirty="0"/>
              <a:t>:</a:t>
            </a:r>
            <a:br>
              <a:rPr lang="en-GB" altLang="zh-CN" sz="1600" dirty="0"/>
            </a:br>
            <a:r>
              <a:rPr lang="en-GB" altLang="zh-CN" sz="1600" dirty="0" err="1"/>
              <a:t>XRFMamba</a:t>
            </a:r>
            <a:r>
              <a:rPr lang="en-GB" altLang="zh-CN" sz="1600" dirty="0"/>
              <a:t> identifies actions within specific time spans by determining </a:t>
            </a:r>
            <a:r>
              <a:rPr lang="en-GB" altLang="zh-CN" sz="1600" b="1" dirty="0"/>
              <a:t>start and end times</a:t>
            </a:r>
            <a:r>
              <a:rPr lang="en-GB" altLang="zh-CN" sz="1600" dirty="0"/>
              <a:t>. It handles multiple localization predictions using </a:t>
            </a:r>
            <a:r>
              <a:rPr lang="en-GB" altLang="zh-CN" sz="1600" b="1" dirty="0"/>
              <a:t>Non-Maximum Suppression (NMS)</a:t>
            </a:r>
            <a:r>
              <a:rPr lang="en-GB" altLang="zh-CN" sz="1600" dirty="0"/>
              <a:t>, ensuring only the </a:t>
            </a:r>
            <a:r>
              <a:rPr lang="en-GB" altLang="zh-CN" sz="1600" b="1" dirty="0"/>
              <a:t>best result</a:t>
            </a:r>
            <a:r>
              <a:rPr lang="en-GB" altLang="zh-CN" sz="1600" dirty="0"/>
              <a:t> is retained for each action.</a:t>
            </a:r>
            <a:endParaRPr lang="zh-CN" alt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42899" y="244632"/>
            <a:ext cx="11010901" cy="1325563"/>
          </a:xfrm>
        </p:spPr>
        <p:txBody>
          <a:bodyPr>
            <a:normAutofit/>
          </a:bodyPr>
          <a:lstStyle/>
          <a:p>
            <a:r>
              <a:rPr lang="en-GB" altLang="zh-CN" sz="3600" dirty="0" err="1"/>
              <a:t>XRFMamba</a:t>
            </a:r>
            <a:r>
              <a:rPr lang="en-GB" altLang="zh-CN" sz="3600" dirty="0"/>
              <a:t>: Superior Performance in Action Localization</a:t>
            </a:r>
            <a:endParaRPr lang="zh-CN" altLang="en-US" sz="36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E744-FD97-4603-A10C-8BDD2F9425C4}" type="slidenum">
              <a:rPr lang="zh-CN" altLang="en-US" smtClean="0"/>
              <a:t>11</a:t>
            </a:fld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337" y="1283191"/>
            <a:ext cx="9913937" cy="197540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42900" y="3505200"/>
            <a:ext cx="6026785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b="1" dirty="0">
                <a:solidFill>
                  <a:schemeClr val="tx1"/>
                </a:solidFill>
              </a:rPr>
              <a:t>Comparison with Leading Models:</a:t>
            </a:r>
            <a:br>
              <a:rPr lang="en-GB" altLang="zh-CN" b="1" dirty="0">
                <a:solidFill>
                  <a:srgbClr val="0070C0"/>
                </a:solidFill>
              </a:rPr>
            </a:br>
            <a:r>
              <a:rPr lang="en-GB" altLang="zh-CN" dirty="0" err="1"/>
              <a:t>XRFMamba</a:t>
            </a:r>
            <a:r>
              <a:rPr lang="en-GB" altLang="zh-CN" dirty="0"/>
              <a:t> outperforms several advanced methods such as </a:t>
            </a:r>
            <a:r>
              <a:rPr lang="en-GB" altLang="zh-CN" b="1" dirty="0">
                <a:solidFill>
                  <a:srgbClr val="0070C0"/>
                </a:solidFill>
              </a:rPr>
              <a:t>ActionFormer</a:t>
            </a:r>
            <a:r>
              <a:rPr lang="en-GB" altLang="zh-CN" dirty="0"/>
              <a:t>,</a:t>
            </a:r>
            <a:r>
              <a:rPr lang="en-GB" altLang="zh-CN" b="1" dirty="0">
                <a:solidFill>
                  <a:srgbClr val="0070C0"/>
                </a:solidFill>
              </a:rPr>
              <a:t> TriDet</a:t>
            </a:r>
            <a:r>
              <a:rPr lang="en-GB" altLang="zh-CN" dirty="0"/>
              <a:t>, </a:t>
            </a:r>
            <a:r>
              <a:rPr lang="en-GB" altLang="zh-CN" dirty="0" err="1"/>
              <a:t>ActionMamba</a:t>
            </a:r>
            <a:r>
              <a:rPr lang="en-GB" altLang="zh-CN" dirty="0"/>
              <a:t>, </a:t>
            </a:r>
            <a:r>
              <a:rPr lang="en-GB" altLang="zh-CN" b="1" dirty="0">
                <a:solidFill>
                  <a:srgbClr val="0070C0"/>
                </a:solidFill>
              </a:rPr>
              <a:t>TemporalMaxer, UWiFiAction</a:t>
            </a:r>
            <a:r>
              <a:rPr lang="en-GB" altLang="zh-CN" dirty="0"/>
              <a:t>, and </a:t>
            </a:r>
            <a:r>
              <a:rPr lang="en-GB" altLang="zh-CN" b="1" dirty="0">
                <a:solidFill>
                  <a:srgbClr val="0070C0"/>
                </a:solidFill>
              </a:rPr>
              <a:t>WiFiTAD</a:t>
            </a:r>
            <a:r>
              <a:rPr lang="en-GB" altLang="zh-CN" dirty="0"/>
              <a:t>.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342900" y="4903470"/>
            <a:ext cx="5753100" cy="1476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GB" b="1" dirty="0">
                <a:solidFill>
                  <a:schemeClr val="tx1"/>
                </a:solidFill>
              </a:rPr>
              <a:t>Improved Performance</a:t>
            </a:r>
            <a:r>
              <a:rPr lang="en-GB" altLang="zh-CN" b="1" dirty="0">
                <a:solidFill>
                  <a:schemeClr val="tx1"/>
                </a:solidFill>
              </a:rPr>
              <a:t>:</a:t>
            </a:r>
            <a:endParaRPr lang="en-GB" altLang="zh-CN" dirty="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GB" b="1" dirty="0">
                <a:solidFill>
                  <a:srgbClr val="0070C0"/>
                </a:solidFill>
              </a:rPr>
              <a:t>XR</a:t>
            </a:r>
            <a:r>
              <a:rPr lang="en-GB" altLang="zh-CN" b="1" dirty="0">
                <a:solidFill>
                  <a:srgbClr val="0070C0"/>
                </a:solidFill>
              </a:rPr>
              <a:t>FMamba</a:t>
            </a:r>
            <a:r>
              <a:rPr lang="en-GB" altLang="zh-CN" dirty="0"/>
              <a:t> achieves a</a:t>
            </a:r>
            <a:r>
              <a:rPr lang="en-US" altLang="en-GB" b="1" dirty="0">
                <a:solidFill>
                  <a:srgbClr val="0070C0"/>
                </a:solidFill>
              </a:rPr>
              <a:t> 5.49-point improvement</a:t>
            </a:r>
            <a:r>
              <a:rPr lang="en-GB" altLang="zh-CN" dirty="0"/>
              <a:t> in </a:t>
            </a:r>
            <a:r>
              <a:rPr lang="en-GB" altLang="zh-CN" dirty="0" err="1"/>
              <a:t>mAP</a:t>
            </a:r>
            <a:r>
              <a:rPr lang="en-GB" altLang="zh-CN" dirty="0"/>
              <a:t> compared to </a:t>
            </a:r>
            <a:r>
              <a:rPr lang="en-US" altLang="en-GB" b="1" dirty="0">
                <a:solidFill>
                  <a:srgbClr val="0070C0"/>
                </a:solidFill>
              </a:rPr>
              <a:t>WiFiTAD</a:t>
            </a:r>
            <a:r>
              <a:rPr lang="en-GB" altLang="zh-CN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altLang="zh-CN" dirty="0"/>
              <a:t>It uses </a:t>
            </a:r>
            <a:r>
              <a:rPr lang="en-US" altLang="en-GB" b="1" dirty="0">
                <a:solidFill>
                  <a:srgbClr val="0070C0"/>
                </a:solidFill>
              </a:rPr>
              <a:t>35% fewer parameters</a:t>
            </a:r>
            <a:r>
              <a:rPr lang="en-GB" altLang="zh-CN" dirty="0"/>
              <a:t> than existing models, making it more efficient.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7570" y="3770630"/>
            <a:ext cx="2227580" cy="2185670"/>
          </a:xfrm>
          <a:prstGeom prst="rect">
            <a:avLst/>
          </a:prstGeom>
        </p:spPr>
      </p:pic>
      <p:pic>
        <p:nvPicPr>
          <p:cNvPr id="9" name="图片 8" descr="canva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3110" y="3742690"/>
            <a:ext cx="3934460" cy="22136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42899" y="394492"/>
            <a:ext cx="11010901" cy="1325563"/>
          </a:xfrm>
        </p:spPr>
        <p:txBody>
          <a:bodyPr>
            <a:normAutofit/>
          </a:bodyPr>
          <a:lstStyle/>
          <a:p>
            <a:r>
              <a:rPr lang="en-GB" altLang="zh-CN" sz="3600" dirty="0" err="1"/>
              <a:t>XRFMamba</a:t>
            </a:r>
            <a:r>
              <a:rPr lang="en-GB" altLang="zh-CN" sz="3600" dirty="0"/>
              <a:t>: Superior Performance in Action Localization</a:t>
            </a:r>
            <a:endParaRPr lang="zh-CN" altLang="en-US" sz="36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E744-FD97-4603-A10C-8BDD2F9425C4}" type="slidenum">
              <a:rPr lang="zh-CN" altLang="en-US" smtClean="0"/>
              <a:t>12</a:t>
            </a:fld>
            <a:endParaRPr lang="zh-CN" altLang="en-US" dirty="0"/>
          </a:p>
        </p:txBody>
      </p:sp>
      <p:pic>
        <p:nvPicPr>
          <p:cNvPr id="6" name="图形 5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03399" y="1442923"/>
            <a:ext cx="7993744" cy="2498045"/>
          </a:xfrm>
          <a:prstGeom prst="rect">
            <a:avLst/>
          </a:prstGeom>
        </p:spPr>
      </p:pic>
      <p:pic>
        <p:nvPicPr>
          <p:cNvPr id="11" name="图形 10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03399" y="3899637"/>
            <a:ext cx="7993744" cy="249804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42899" y="394492"/>
            <a:ext cx="11010901" cy="1325563"/>
          </a:xfrm>
        </p:spPr>
        <p:txBody>
          <a:bodyPr>
            <a:normAutofit/>
          </a:bodyPr>
          <a:lstStyle/>
          <a:p>
            <a:r>
              <a:rPr lang="en-GB" altLang="zh-CN" sz="3600" dirty="0"/>
              <a:t>Summarization Results: Evaluating </a:t>
            </a:r>
            <a:r>
              <a:rPr lang="en-GB" altLang="zh-CN" sz="3600" dirty="0" err="1"/>
              <a:t>XRFMamba</a:t>
            </a:r>
            <a:r>
              <a:rPr lang="en-GB" altLang="zh-CN" sz="3600" dirty="0"/>
              <a:t> with LLMs</a:t>
            </a:r>
            <a:endParaRPr lang="zh-CN" altLang="en-US" sz="36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E744-FD97-4603-A10C-8BDD2F9425C4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514918" y="1478783"/>
            <a:ext cx="10363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dirty="0"/>
              <a:t>Action sequences are provided to large language models (LLMs) like </a:t>
            </a:r>
            <a:r>
              <a:rPr lang="en-GB" altLang="zh-CN" b="1" dirty="0"/>
              <a:t>ChatGPT4</a:t>
            </a:r>
            <a:r>
              <a:rPr lang="en-GB" altLang="zh-CN" dirty="0"/>
              <a:t>, </a:t>
            </a:r>
            <a:r>
              <a:rPr lang="en-GB" altLang="zh-CN" b="1" dirty="0"/>
              <a:t>Qwen2.5-Plus</a:t>
            </a:r>
            <a:r>
              <a:rPr lang="en-GB" altLang="zh-CN" dirty="0"/>
              <a:t>, and </a:t>
            </a:r>
            <a:r>
              <a:rPr lang="en-GB" altLang="zh-CN" b="1" dirty="0"/>
              <a:t>DeepSeek-V3</a:t>
            </a:r>
            <a:r>
              <a:rPr lang="en-GB" altLang="zh-CN" dirty="0"/>
              <a:t>. These models generate summaries based on predicted actions and their start/end times.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14918" y="2265518"/>
            <a:ext cx="108388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b="1" dirty="0"/>
              <a:t>Response Meaning Consistency (RMC):</a:t>
            </a:r>
            <a:br>
              <a:rPr lang="en-GB" altLang="zh-CN" dirty="0"/>
            </a:br>
            <a:r>
              <a:rPr lang="en-GB" altLang="zh-CN" dirty="0"/>
              <a:t>A new evaluation metric, </a:t>
            </a:r>
            <a:r>
              <a:rPr lang="en-GB" altLang="zh-CN" b="1" dirty="0"/>
              <a:t>Response Meaning Consistency (RMC)</a:t>
            </a:r>
            <a:r>
              <a:rPr lang="en-GB" altLang="zh-CN" dirty="0"/>
              <a:t>, measures the alignment between predicted action summaries and ground truth.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9486" y="3606156"/>
            <a:ext cx="4157596" cy="63201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918" y="3251845"/>
            <a:ext cx="6909892" cy="31750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9486" y="4592482"/>
            <a:ext cx="4157596" cy="1297234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8370281" y="5889716"/>
            <a:ext cx="27432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1400" dirty="0" err="1"/>
              <a:t>XRFMamba</a:t>
            </a:r>
            <a:r>
              <a:rPr lang="en-GB" altLang="zh-CN" sz="1400" dirty="0"/>
              <a:t> achieves high RMC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42899" y="270032"/>
            <a:ext cx="11010901" cy="1325563"/>
          </a:xfrm>
        </p:spPr>
        <p:txBody>
          <a:bodyPr>
            <a:normAutofit/>
          </a:bodyPr>
          <a:lstStyle/>
          <a:p>
            <a:r>
              <a:rPr lang="en-GB" altLang="zh-CN" sz="3600" dirty="0"/>
              <a:t>Device Combination Flexibility in XRF V2 Dataset</a:t>
            </a:r>
            <a:endParaRPr lang="zh-CN" altLang="en-US" sz="36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E744-FD97-4603-A10C-8BDD2F9425C4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342899" y="1571247"/>
            <a:ext cx="110109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b="1" dirty="0"/>
              <a:t>Multiple Device Types Supported:</a:t>
            </a:r>
            <a:br>
              <a:rPr lang="en-GB" altLang="zh-CN" dirty="0"/>
            </a:br>
            <a:r>
              <a:rPr lang="en-GB" altLang="zh-CN" dirty="0"/>
              <a:t>The XRF V2 dataset includes </a:t>
            </a:r>
            <a:r>
              <a:rPr lang="en-GB" altLang="zh-CN" b="1" dirty="0"/>
              <a:t>Wi-Fi signals</a:t>
            </a:r>
            <a:r>
              <a:rPr lang="en-GB" altLang="zh-CN" dirty="0"/>
              <a:t> and </a:t>
            </a:r>
            <a:r>
              <a:rPr lang="en-GB" altLang="zh-CN" b="1" dirty="0"/>
              <a:t>IMU data</a:t>
            </a:r>
            <a:r>
              <a:rPr lang="en-GB" altLang="zh-CN" dirty="0"/>
              <a:t> from </a:t>
            </a:r>
            <a:r>
              <a:rPr lang="en-GB" altLang="zh-CN" b="1" dirty="0"/>
              <a:t>five types of devices</a:t>
            </a:r>
            <a:r>
              <a:rPr lang="en-GB" altLang="zh-CN" dirty="0"/>
              <a:t>: phones, smartwatches, earbuds, and glasses.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627633" y="5136063"/>
            <a:ext cx="544591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1600" b="1" dirty="0"/>
              <a:t>Examples of common combinations: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1600" b="1" dirty="0"/>
              <a:t>Case1: </a:t>
            </a:r>
            <a:r>
              <a:rPr lang="en-GB" altLang="zh-CN" sz="1600" dirty="0"/>
              <a:t>A right-hand-worn smartwatch </a:t>
            </a:r>
            <a:r>
              <a:rPr lang="en-GB" altLang="zh-CN" sz="16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</a:t>
            </a:r>
            <a:r>
              <a:rPr lang="en-GB" altLang="zh-CN" sz="16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mAP</a:t>
            </a:r>
            <a:r>
              <a:rPr lang="en-GB" altLang="zh-CN" sz="16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: 65.81)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1600" b="1" dirty="0"/>
              <a:t>Case 9:</a:t>
            </a:r>
            <a:r>
              <a:rPr lang="en-GB" altLang="zh-CN" sz="1600" dirty="0"/>
              <a:t> Phone + Smartwatch</a:t>
            </a:r>
            <a:r>
              <a:rPr lang="en-US" altLang="zh-CN" sz="1600" dirty="0"/>
              <a:t> </a:t>
            </a:r>
            <a:r>
              <a:rPr lang="en-US" altLang="zh-CN" sz="16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</a:t>
            </a:r>
            <a:r>
              <a:rPr lang="en-US" altLang="zh-CN" sz="16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mAP</a:t>
            </a:r>
            <a:r>
              <a:rPr lang="en-US" altLang="zh-CN" sz="16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: 67.38)</a:t>
            </a:r>
            <a:endParaRPr lang="en-GB" altLang="zh-CN" sz="16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1600" b="1" dirty="0"/>
              <a:t>Case 14:</a:t>
            </a:r>
            <a:r>
              <a:rPr lang="en-GB" altLang="zh-CN" sz="1600" dirty="0"/>
              <a:t> Phone + Smartwatch + Earbud </a:t>
            </a:r>
            <a:r>
              <a:rPr lang="en-GB" altLang="zh-CN" sz="16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</a:t>
            </a:r>
            <a:r>
              <a:rPr lang="en-GB" altLang="zh-CN" sz="16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mAP</a:t>
            </a:r>
            <a:r>
              <a:rPr lang="en-GB" altLang="zh-CN" sz="16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: </a:t>
            </a:r>
            <a:r>
              <a:rPr lang="en-US" altLang="zh-CN" sz="16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70.23</a:t>
            </a:r>
            <a:r>
              <a:rPr lang="en-GB" altLang="zh-CN" sz="16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1600" b="1" dirty="0"/>
              <a:t>Case 17:</a:t>
            </a:r>
            <a:r>
              <a:rPr lang="en-GB" altLang="zh-CN" sz="1600" dirty="0"/>
              <a:t> Phone + Smartwatch + Glasses + Wi-Fi </a:t>
            </a:r>
            <a:r>
              <a:rPr lang="en-GB" altLang="zh-CN" sz="16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</a:t>
            </a:r>
            <a:r>
              <a:rPr lang="en-US" altLang="zh-CN" sz="16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74.35</a:t>
            </a:r>
            <a:r>
              <a:rPr lang="en-GB" altLang="zh-CN" sz="16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)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84" y="2821070"/>
            <a:ext cx="4551045" cy="254063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2899" y="5662695"/>
            <a:ext cx="492125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1600" dirty="0"/>
              <a:t>This flexibility allows for optimized performance and versatile usage in different real-world applications.</a:t>
            </a:r>
            <a:endParaRPr lang="zh-CN" altLang="en-US" sz="1600" dirty="0"/>
          </a:p>
        </p:txBody>
      </p:sp>
      <p:pic>
        <p:nvPicPr>
          <p:cNvPr id="4" name="图片 3" descr="dev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4149" y="2595642"/>
            <a:ext cx="617220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42899" y="394492"/>
            <a:ext cx="11010901" cy="1325563"/>
          </a:xfrm>
        </p:spPr>
        <p:txBody>
          <a:bodyPr>
            <a:normAutofit/>
          </a:bodyPr>
          <a:lstStyle/>
          <a:p>
            <a:r>
              <a:rPr lang="en-GB" altLang="zh-CN" sz="3600" dirty="0"/>
              <a:t>Good Zero-shot Generalizability</a:t>
            </a:r>
            <a:endParaRPr lang="zh-CN" altLang="en-US" sz="36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E744-FD97-4603-A10C-8BDD2F9425C4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576793" y="1577000"/>
            <a:ext cx="112723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b="1" dirty="0"/>
              <a:t>Zero-shot evaluation on new users:</a:t>
            </a:r>
            <a:endParaRPr lang="en-GB" altLang="zh-CN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altLang="zh-CN" dirty="0" err="1"/>
              <a:t>mAP</a:t>
            </a:r>
            <a:r>
              <a:rPr lang="en-GB" altLang="zh-CN" dirty="0"/>
              <a:t> for new users: 0.72 </a:t>
            </a:r>
            <a:r>
              <a:rPr lang="en-US" altLang="zh-CN" dirty="0" err="1"/>
              <a:t>mAP</a:t>
            </a:r>
            <a:endParaRPr lang="en-GB" altLang="zh-CN" dirty="0"/>
          </a:p>
          <a:p>
            <a:r>
              <a:rPr lang="en-GB" altLang="zh-CN" b="1" dirty="0"/>
              <a:t>Zero-shot evaluation in a unseen apartment: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altLang="zh-CN" dirty="0" err="1"/>
              <a:t>mAP</a:t>
            </a:r>
            <a:r>
              <a:rPr lang="en-GB" altLang="zh-CN" dirty="0"/>
              <a:t> for new users: 0.70 </a:t>
            </a:r>
            <a:r>
              <a:rPr lang="en-GB" altLang="zh-CN" dirty="0" err="1"/>
              <a:t>mAP</a:t>
            </a:r>
            <a:endParaRPr lang="en-GB" altLang="zh-CN" dirty="0"/>
          </a:p>
        </p:txBody>
      </p:sp>
      <p:sp>
        <p:nvSpPr>
          <p:cNvPr id="13" name="文本框 12"/>
          <p:cNvSpPr txBox="1"/>
          <p:nvPr/>
        </p:nvSpPr>
        <p:spPr>
          <a:xfrm>
            <a:off x="4656667" y="4572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 dirty="0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096" y="3123697"/>
            <a:ext cx="5153660" cy="260032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932876" y="5784425"/>
            <a:ext cx="34713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dirty="0"/>
              <a:t>Leave-one-person-out results.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E10DB79-468A-4FFF-9BFA-D26CC3A9C4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1036" y="3063292"/>
            <a:ext cx="5750417" cy="272113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E544CAA-D720-4DD8-982B-177915242BC3}"/>
              </a:ext>
            </a:extLst>
          </p:cNvPr>
          <p:cNvSpPr txBox="1"/>
          <p:nvPr/>
        </p:nvSpPr>
        <p:spPr>
          <a:xfrm>
            <a:off x="6826083" y="5784425"/>
            <a:ext cx="44330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dirty="0"/>
              <a:t>5-volunteer test in a </a:t>
            </a:r>
            <a:r>
              <a:rPr lang="en-US" altLang="zh-CN" dirty="0"/>
              <a:t>new apartment</a:t>
            </a:r>
            <a:endParaRPr lang="en-GB" altLang="zh-C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342899" y="394492"/>
            <a:ext cx="11010901" cy="1325563"/>
          </a:xfrm>
        </p:spPr>
        <p:txBody>
          <a:bodyPr>
            <a:normAutofit/>
          </a:bodyPr>
          <a:lstStyle/>
          <a:p>
            <a:r>
              <a:rPr lang="en-GB" altLang="zh-CN" sz="3600" dirty="0"/>
              <a:t>XRF V2: Unlocking New Research Opportunities</a:t>
            </a:r>
            <a:endParaRPr lang="zh-CN" altLang="en-US" sz="3600" dirty="0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E744-FD97-4603-A10C-8BDD2F9425C4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744422" y="1554197"/>
            <a:ext cx="44613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dirty="0"/>
              <a:t>1. Advanced Action Summarization Models</a:t>
            </a:r>
            <a:endParaRPr lang="en-GB" altLang="zh-CN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6096000" y="1556828"/>
            <a:ext cx="47861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dirty="0"/>
              <a:t>2. Weakly Supervised &amp; Unsupervised TAL</a:t>
            </a:r>
            <a:endParaRPr lang="zh-CN" altLang="en-US" dirty="0"/>
          </a:p>
        </p:txBody>
      </p:sp>
      <p:sp>
        <p:nvSpPr>
          <p:cNvPr id="16" name="文本框 15"/>
          <p:cNvSpPr txBox="1"/>
          <p:nvPr/>
        </p:nvSpPr>
        <p:spPr>
          <a:xfrm>
            <a:off x="6096000" y="2882391"/>
            <a:ext cx="41574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dirty="0"/>
              <a:t>4. Next Action Prediction &amp; Proactive AI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738339" y="4467445"/>
            <a:ext cx="64038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dirty="0"/>
              <a:t>5. </a:t>
            </a:r>
            <a:r>
              <a:rPr lang="en-US" altLang="zh-CN" dirty="0"/>
              <a:t>Continuous </a:t>
            </a:r>
            <a:r>
              <a:rPr lang="en-GB" altLang="zh-CN" dirty="0"/>
              <a:t>2D Pose </a:t>
            </a:r>
            <a:r>
              <a:rPr lang="en-US" altLang="zh-CN" dirty="0"/>
              <a:t>Estimation, Tracking, and Prediction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15055"/>
            <a:ext cx="2081891" cy="580584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739" y="1953403"/>
            <a:ext cx="1842861" cy="637359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2637628" y="2013619"/>
            <a:ext cx="2641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1200" dirty="0"/>
              <a:t>Develop </a:t>
            </a:r>
            <a:r>
              <a:rPr lang="en-GB" altLang="zh-CN" sz="1200" b="1" dirty="0"/>
              <a:t>more precise and efficient</a:t>
            </a:r>
            <a:r>
              <a:rPr lang="en-GB" altLang="zh-CN" sz="1200" dirty="0"/>
              <a:t> action summarization algorithms</a:t>
            </a:r>
            <a:endParaRPr lang="zh-CN" altLang="en-US" sz="1200" dirty="0"/>
          </a:p>
        </p:txBody>
      </p:sp>
      <p:sp>
        <p:nvSpPr>
          <p:cNvPr id="29" name="文本框 28"/>
          <p:cNvSpPr txBox="1"/>
          <p:nvPr/>
        </p:nvSpPr>
        <p:spPr>
          <a:xfrm>
            <a:off x="6235698" y="1930408"/>
            <a:ext cx="38467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1200" dirty="0"/>
              <a:t>Investigate methods to </a:t>
            </a:r>
            <a:r>
              <a:rPr lang="en-GB" altLang="zh-CN" sz="1200" b="1" dirty="0"/>
              <a:t>infer temporal action boundaries</a:t>
            </a:r>
            <a:r>
              <a:rPr lang="en-GB" altLang="zh-CN" sz="1200" dirty="0"/>
              <a:t> with </a:t>
            </a:r>
            <a:r>
              <a:rPr lang="en-GB" altLang="zh-CN" sz="1200" b="1" dirty="0"/>
              <a:t>limited or no labeled data</a:t>
            </a:r>
            <a:r>
              <a:rPr lang="en-GB" altLang="zh-CN" sz="1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1200" dirty="0"/>
              <a:t>Improve TAL efficiency for </a:t>
            </a:r>
            <a:r>
              <a:rPr lang="en-GB" altLang="zh-CN" sz="1200" b="1" dirty="0"/>
              <a:t>real-time applications</a:t>
            </a:r>
            <a:r>
              <a:rPr lang="en-GB" altLang="zh-CN" sz="1200" dirty="0"/>
              <a:t> in smart environments.</a:t>
            </a:r>
            <a:endParaRPr lang="zh-CN" altLang="en-US" sz="1200" dirty="0"/>
          </a:p>
        </p:txBody>
      </p:sp>
      <p:sp>
        <p:nvSpPr>
          <p:cNvPr id="31" name="文本框 30"/>
          <p:cNvSpPr txBox="1"/>
          <p:nvPr/>
        </p:nvSpPr>
        <p:spPr>
          <a:xfrm>
            <a:off x="8177891" y="3429000"/>
            <a:ext cx="30626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1200" dirty="0"/>
              <a:t>Build </a:t>
            </a:r>
            <a:r>
              <a:rPr lang="en-GB" altLang="zh-CN" sz="1200" b="1" dirty="0"/>
              <a:t>predictive models</a:t>
            </a:r>
            <a:r>
              <a:rPr lang="en-GB" altLang="zh-CN" sz="1200" dirty="0"/>
              <a:t> that anticipate user actions for </a:t>
            </a:r>
            <a:r>
              <a:rPr lang="en-GB" altLang="zh-CN" sz="1200" b="1" dirty="0"/>
              <a:t>seamless smart home automation</a:t>
            </a:r>
            <a:r>
              <a:rPr lang="en-GB" altLang="zh-CN" sz="1200" dirty="0"/>
              <a:t>.</a:t>
            </a:r>
            <a:endParaRPr lang="zh-CN" altLang="en-US" sz="1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B661D94-9E87-D0A7-7692-A2FFC54BCF7F}"/>
              </a:ext>
            </a:extLst>
          </p:cNvPr>
          <p:cNvSpPr txBox="1"/>
          <p:nvPr/>
        </p:nvSpPr>
        <p:spPr>
          <a:xfrm>
            <a:off x="738339" y="2897643"/>
            <a:ext cx="4296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dirty="0"/>
              <a:t>3. F</a:t>
            </a:r>
            <a:r>
              <a:rPr lang="en-US" altLang="zh-CN" dirty="0" err="1"/>
              <a:t>uture</a:t>
            </a:r>
            <a:r>
              <a:rPr lang="en-US" altLang="zh-CN" dirty="0"/>
              <a:t> End-to-End Summarization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ECDD463-191C-45D6-554B-11FDBAD0F8D0}"/>
              </a:ext>
            </a:extLst>
          </p:cNvPr>
          <p:cNvSpPr txBox="1"/>
          <p:nvPr/>
        </p:nvSpPr>
        <p:spPr>
          <a:xfrm>
            <a:off x="878037" y="3271223"/>
            <a:ext cx="38467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/>
              <a:t>Explore </a:t>
            </a:r>
            <a:r>
              <a:rPr lang="en-US" altLang="zh-CN" sz="1200" b="1" dirty="0"/>
              <a:t>end-to-end</a:t>
            </a:r>
            <a:r>
              <a:rPr lang="en-US" altLang="zh-CN" sz="1200" dirty="0"/>
              <a:t> LLM methods for direct action summarization.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/>
              <a:t>Investigate </a:t>
            </a:r>
            <a:r>
              <a:rPr lang="en-US" altLang="zh-CN" sz="1200" b="1" dirty="0"/>
              <a:t>tokenization</a:t>
            </a:r>
            <a:r>
              <a:rPr lang="en-US" altLang="zh-CN" sz="1200" dirty="0"/>
              <a:t> and </a:t>
            </a:r>
            <a:r>
              <a:rPr lang="en-US" altLang="zh-CN" sz="1200" b="1" dirty="0"/>
              <a:t>alignment </a:t>
            </a:r>
            <a:r>
              <a:rPr lang="en-US" altLang="zh-CN" sz="1200" dirty="0"/>
              <a:t>techniques for </a:t>
            </a:r>
            <a:r>
              <a:rPr lang="en-US" altLang="zh-CN" sz="1200" b="1" dirty="0"/>
              <a:t>Wi-Fi</a:t>
            </a:r>
            <a:r>
              <a:rPr lang="en-US" altLang="zh-CN" sz="1200" dirty="0"/>
              <a:t> and </a:t>
            </a:r>
            <a:r>
              <a:rPr lang="en-US" altLang="zh-CN" sz="1200" b="1" dirty="0"/>
              <a:t>IMU</a:t>
            </a:r>
            <a:r>
              <a:rPr lang="en-US" altLang="zh-CN" sz="1200" dirty="0"/>
              <a:t> time-series data.</a:t>
            </a:r>
            <a:endParaRPr lang="zh-CN" altLang="en-US" sz="1200" dirty="0"/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7579605E-A5FC-1250-8AC3-C0C666D83C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1C7B52C-B8D5-D736-2B52-C11C7B7C3C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347" y="4915461"/>
            <a:ext cx="5382406" cy="1614722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076ECC5B-054D-27A1-54B8-F6A98A619E66}"/>
              </a:ext>
            </a:extLst>
          </p:cNvPr>
          <p:cNvSpPr txBox="1"/>
          <p:nvPr/>
        </p:nvSpPr>
        <p:spPr>
          <a:xfrm>
            <a:off x="6038315" y="5084240"/>
            <a:ext cx="51445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/>
              <a:t>XRF V2 dataset provides </a:t>
            </a:r>
            <a:r>
              <a:rPr lang="en-US" altLang="zh-CN" sz="1200" b="1" dirty="0"/>
              <a:t>continuous</a:t>
            </a:r>
            <a:r>
              <a:rPr lang="en-US" altLang="zh-CN" sz="1200" dirty="0"/>
              <a:t> </a:t>
            </a:r>
            <a:r>
              <a:rPr lang="en-US" altLang="zh-CN" sz="1200" b="1" dirty="0"/>
              <a:t>2D pose </a:t>
            </a:r>
            <a:r>
              <a:rPr lang="en-US" altLang="zh-CN" sz="1200" dirty="0"/>
              <a:t>data, enabling pose </a:t>
            </a:r>
            <a:r>
              <a:rPr lang="en-US" altLang="zh-CN" sz="1200" b="1" dirty="0"/>
              <a:t>estimation</a:t>
            </a:r>
            <a:r>
              <a:rPr lang="en-US" altLang="zh-CN" sz="1200" dirty="0"/>
              <a:t>, </a:t>
            </a:r>
            <a:r>
              <a:rPr lang="en-US" altLang="zh-CN" sz="1200" b="1" dirty="0"/>
              <a:t>tracking</a:t>
            </a:r>
            <a:r>
              <a:rPr lang="en-US" altLang="zh-CN" sz="1200" dirty="0"/>
              <a:t>, and </a:t>
            </a:r>
            <a:r>
              <a:rPr lang="en-US" altLang="zh-CN" sz="1200" b="1" dirty="0"/>
              <a:t>prediction</a:t>
            </a:r>
            <a:r>
              <a:rPr lang="en-US" altLang="zh-CN" sz="1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/>
              <a:t>It captures </a:t>
            </a:r>
            <a:r>
              <a:rPr lang="en-US" altLang="zh-CN" sz="1200" b="1" dirty="0"/>
              <a:t>dynamic</a:t>
            </a:r>
            <a:r>
              <a:rPr lang="en-US" altLang="zh-CN" sz="1200" dirty="0"/>
              <a:t> and </a:t>
            </a:r>
            <a:r>
              <a:rPr lang="en-US" altLang="zh-CN" sz="1200" b="1" dirty="0"/>
              <a:t>varied</a:t>
            </a:r>
            <a:r>
              <a:rPr lang="en-US" altLang="zh-CN" sz="1200" dirty="0"/>
              <a:t> human behaviors, making it more representative of real-world scenarios than prior datasets.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645F9-A510-B005-9838-BA2B2FDCA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1C4F1839-ADA6-6B38-ADF3-09BF0FCE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899" y="394492"/>
            <a:ext cx="11010901" cy="1325563"/>
          </a:xfrm>
        </p:spPr>
        <p:txBody>
          <a:bodyPr>
            <a:normAutofit/>
          </a:bodyPr>
          <a:lstStyle/>
          <a:p>
            <a:r>
              <a:rPr lang="en-GB" altLang="zh-CN" sz="3600" dirty="0"/>
              <a:t>XRF V2: Unlocking New Research Opportunities</a:t>
            </a:r>
            <a:endParaRPr lang="zh-CN" altLang="en-US" sz="3600" dirty="0"/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58A7D1E-482D-E7CC-D501-F3B18C123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E744-FD97-4603-A10C-8BDD2F9425C4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E5AA22E-5034-B856-38C5-A4095446B0B6}"/>
              </a:ext>
            </a:extLst>
          </p:cNvPr>
          <p:cNvSpPr txBox="1"/>
          <p:nvPr/>
        </p:nvSpPr>
        <p:spPr>
          <a:xfrm>
            <a:off x="777761" y="3911219"/>
            <a:ext cx="4455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dirty="0"/>
              <a:t>8. Sensor Fusion &amp; Multimodal Learning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79BF7A8-710A-F909-2B40-4A85E0792B10}"/>
              </a:ext>
            </a:extLst>
          </p:cNvPr>
          <p:cNvSpPr txBox="1"/>
          <p:nvPr/>
        </p:nvSpPr>
        <p:spPr>
          <a:xfrm>
            <a:off x="744422" y="1835436"/>
            <a:ext cx="4741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dirty="0"/>
              <a:t>6. 3D Human Motion Extensions</a:t>
            </a:r>
            <a:endParaRPr lang="zh-CN" altLang="en-US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4EF7027-5228-A721-F34D-37B7186CC7FF}"/>
              </a:ext>
            </a:extLst>
          </p:cNvPr>
          <p:cNvSpPr txBox="1"/>
          <p:nvPr/>
        </p:nvSpPr>
        <p:spPr>
          <a:xfrm>
            <a:off x="6155533" y="3911219"/>
            <a:ext cx="4419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dirty="0"/>
              <a:t>9. Real-World Applications &amp; Deployment</a:t>
            </a:r>
            <a:endParaRPr lang="zh-CN" altLang="en-US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30F16E46-1925-A730-49CC-22BAAD145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422" y="4396151"/>
            <a:ext cx="1738086" cy="1276961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EFD3B5C6-C7C8-2A91-E948-8B263FB595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462" y="2250221"/>
            <a:ext cx="1765125" cy="1057943"/>
          </a:xfrm>
          <a:prstGeom prst="rect">
            <a:avLst/>
          </a:prstGeom>
        </p:spPr>
      </p:pic>
      <p:sp>
        <p:nvSpPr>
          <p:cNvPr id="33" name="文本框 32">
            <a:extLst>
              <a:ext uri="{FF2B5EF4-FFF2-40B4-BE49-F238E27FC236}">
                <a16:creationId xmlns:a16="http://schemas.microsoft.com/office/drawing/2014/main" id="{29941AAE-C175-AFDF-BCBA-2CA3B7A3BC92}"/>
              </a:ext>
            </a:extLst>
          </p:cNvPr>
          <p:cNvSpPr txBox="1"/>
          <p:nvPr/>
        </p:nvSpPr>
        <p:spPr>
          <a:xfrm>
            <a:off x="3165588" y="2414555"/>
            <a:ext cx="27649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/>
              <a:t>we plan to gradually extend the dataset with </a:t>
            </a:r>
            <a:r>
              <a:rPr lang="en-US" altLang="zh-CN" sz="1200" b="1" dirty="0"/>
              <a:t>3D human pose</a:t>
            </a:r>
            <a:r>
              <a:rPr lang="en-US" altLang="zh-CN" sz="1200" dirty="0"/>
              <a:t>, </a:t>
            </a:r>
            <a:r>
              <a:rPr lang="en-US" altLang="zh-CN" sz="1200" b="1" dirty="0"/>
              <a:t>mesh</a:t>
            </a:r>
            <a:r>
              <a:rPr lang="en-US" altLang="zh-CN" sz="1200" dirty="0"/>
              <a:t>, and </a:t>
            </a:r>
            <a:r>
              <a:rPr lang="en-US" altLang="zh-CN" sz="1200" b="1" dirty="0" err="1"/>
              <a:t>densepose</a:t>
            </a:r>
            <a:r>
              <a:rPr lang="en-US" altLang="zh-CN" sz="1200" b="1" dirty="0"/>
              <a:t> data </a:t>
            </a:r>
            <a:r>
              <a:rPr lang="en-US" altLang="zh-CN" sz="1200" dirty="0"/>
              <a:t>to enable finer-grained human sensing research.</a:t>
            </a:r>
            <a:endParaRPr lang="en-US" altLang="zh-CN" sz="1200" dirty="0">
              <a:effectLst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378B487-5760-51B8-737F-9D3B61248876}"/>
              </a:ext>
            </a:extLst>
          </p:cNvPr>
          <p:cNvSpPr txBox="1"/>
          <p:nvPr/>
        </p:nvSpPr>
        <p:spPr>
          <a:xfrm>
            <a:off x="2482508" y="4451260"/>
            <a:ext cx="29098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1200" dirty="0"/>
              <a:t>Enhance </a:t>
            </a:r>
            <a:r>
              <a:rPr lang="en-GB" altLang="zh-CN" sz="1200" b="1" dirty="0"/>
              <a:t>Wi-Fi and IMU fusion models</a:t>
            </a:r>
            <a:r>
              <a:rPr lang="en-GB" altLang="zh-CN" sz="1200" dirty="0"/>
              <a:t> for </a:t>
            </a:r>
            <a:r>
              <a:rPr lang="en-GB" altLang="zh-CN" sz="1200" b="1" dirty="0"/>
              <a:t>robust action recognition</a:t>
            </a:r>
            <a:r>
              <a:rPr lang="en-GB" altLang="zh-CN" sz="12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1200" dirty="0"/>
              <a:t>Develop </a:t>
            </a:r>
            <a:r>
              <a:rPr lang="en-GB" altLang="zh-CN" sz="1200" b="1" dirty="0"/>
              <a:t>cross-modal foundational models</a:t>
            </a:r>
            <a:r>
              <a:rPr lang="en-GB" altLang="zh-CN" sz="1200" dirty="0"/>
              <a:t> using processed video features.</a:t>
            </a:r>
            <a:endParaRPr lang="zh-CN" altLang="en-US" sz="12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0BA0DA93-2420-8409-2AD3-05B43CA47298}"/>
              </a:ext>
            </a:extLst>
          </p:cNvPr>
          <p:cNvSpPr txBox="1"/>
          <p:nvPr/>
        </p:nvSpPr>
        <p:spPr>
          <a:xfrm>
            <a:off x="9051815" y="4597718"/>
            <a:ext cx="30117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1200" dirty="0"/>
              <a:t>Develop </a:t>
            </a:r>
            <a:r>
              <a:rPr lang="en-GB" altLang="zh-CN" sz="1200" b="1" dirty="0"/>
              <a:t>real-time ambient sensing</a:t>
            </a:r>
            <a:r>
              <a:rPr lang="en-GB" altLang="zh-CN" sz="1200" dirty="0"/>
              <a:t> for </a:t>
            </a:r>
            <a:r>
              <a:rPr lang="en-GB" altLang="zh-CN" sz="1200" b="1" dirty="0"/>
              <a:t>elderly care, health monitoring, and home automation</a:t>
            </a:r>
            <a:r>
              <a:rPr lang="en-GB" altLang="zh-CN" sz="1200" dirty="0"/>
              <a:t>.</a:t>
            </a:r>
            <a:endParaRPr lang="zh-CN" altLang="en-US" sz="1200" dirty="0"/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408538CB-A500-F638-142E-4272397F06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1927" y="4455629"/>
            <a:ext cx="2743200" cy="101830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43360737-C8E4-0E10-6E21-2BF48BCCDAD2}"/>
              </a:ext>
            </a:extLst>
          </p:cNvPr>
          <p:cNvSpPr txBox="1"/>
          <p:nvPr/>
        </p:nvSpPr>
        <p:spPr>
          <a:xfrm>
            <a:off x="6155533" y="1836717"/>
            <a:ext cx="42962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dirty="0"/>
              <a:t>7. Realistic Data Generation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E46D32A-E807-DA59-5C94-5177BA278673}"/>
              </a:ext>
            </a:extLst>
          </p:cNvPr>
          <p:cNvSpPr txBox="1"/>
          <p:nvPr/>
        </p:nvSpPr>
        <p:spPr>
          <a:xfrm>
            <a:off x="6290127" y="2387584"/>
            <a:ext cx="384673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/>
              <a:t>Serves as a benchmark for advancing realistic IMU and Wi-Fi data generation.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/>
              <a:t>Reduces reliance on costly data collection and improves domain generalization.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8474937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043563" y="1371257"/>
            <a:ext cx="944165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>
                <a:latin typeface="Open Sans"/>
              </a:rPr>
              <a:t>We welcome </a:t>
            </a:r>
            <a:r>
              <a:rPr lang="en-US" altLang="zh-CN" sz="3200" dirty="0">
                <a:solidFill>
                  <a:srgbClr val="0070C0"/>
                </a:solidFill>
                <a:latin typeface="Open Sans"/>
              </a:rPr>
              <a:t>discussion</a:t>
            </a:r>
            <a:r>
              <a:rPr lang="en-US" altLang="zh-CN" sz="3200" dirty="0">
                <a:latin typeface="Open Sans"/>
              </a:rPr>
              <a:t> and </a:t>
            </a:r>
            <a:r>
              <a:rPr lang="en-US" altLang="zh-CN" sz="3200" dirty="0">
                <a:solidFill>
                  <a:srgbClr val="FF0000"/>
                </a:solidFill>
                <a:latin typeface="Open Sans"/>
              </a:rPr>
              <a:t>collaboration</a:t>
            </a:r>
            <a:r>
              <a:rPr lang="en-US" altLang="zh-CN" sz="3200" dirty="0">
                <a:latin typeface="Open Sans"/>
              </a:rPr>
              <a:t>! </a:t>
            </a:r>
            <a:endParaRPr lang="en-US" altLang="zh-CN" sz="2800" dirty="0">
              <a:latin typeface="Open San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0495" y="2025485"/>
            <a:ext cx="2507787" cy="3341528"/>
          </a:xfrm>
          <a:prstGeom prst="rect">
            <a:avLst/>
          </a:prstGeom>
        </p:spPr>
      </p:pic>
      <p:sp>
        <p:nvSpPr>
          <p:cNvPr id="15" name="矩形 14"/>
          <p:cNvSpPr/>
          <p:nvPr/>
        </p:nvSpPr>
        <p:spPr>
          <a:xfrm>
            <a:off x="585000" y="691350"/>
            <a:ext cx="944165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dirty="0">
                <a:latin typeface="Open Sans"/>
              </a:rPr>
              <a:t>Thank you! Q&amp;A!</a:t>
            </a:r>
            <a:endParaRPr lang="en-US" altLang="zh-CN" sz="2800" dirty="0">
              <a:latin typeface="Open San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876460" y="3527382"/>
            <a:ext cx="4836817" cy="1262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br>
              <a:rPr lang="en-US" altLang="zh-CN" sz="1400" dirty="0"/>
            </a:br>
            <a:r>
              <a:rPr lang="en-US" altLang="zh-CN" sz="1600" b="1" dirty="0"/>
              <a:t>Fei Wang (</a:t>
            </a:r>
            <a:r>
              <a:rPr lang="zh-CN" altLang="en-US" sz="1600" b="1" dirty="0"/>
              <a:t>王飞</a:t>
            </a:r>
            <a:r>
              <a:rPr lang="en-US" altLang="zh-CN" sz="1600" b="1" dirty="0"/>
              <a:t>)</a:t>
            </a:r>
            <a:endParaRPr lang="en-US" altLang="zh-CN" sz="1600" dirty="0"/>
          </a:p>
          <a:p>
            <a:pPr>
              <a:lnSpc>
                <a:spcPct val="125000"/>
              </a:lnSpc>
            </a:pPr>
            <a:r>
              <a:rPr lang="en-US" altLang="zh-CN" sz="1600" dirty="0"/>
              <a:t>Associate Professor, Xi’an </a:t>
            </a:r>
            <a:r>
              <a:rPr lang="en-US" altLang="zh-CN" sz="1600" dirty="0" err="1"/>
              <a:t>Jiaotong</a:t>
            </a:r>
            <a:r>
              <a:rPr lang="en-US" altLang="zh-CN" sz="1600" dirty="0"/>
              <a:t> University, China</a:t>
            </a:r>
          </a:p>
          <a:p>
            <a:pPr>
              <a:lnSpc>
                <a:spcPct val="125000"/>
              </a:lnSpc>
            </a:pPr>
            <a:r>
              <a:rPr lang="en-US" altLang="zh-CN" sz="1600" b="1" dirty="0">
                <a:solidFill>
                  <a:srgbClr val="0070C0"/>
                </a:solidFill>
              </a:rPr>
              <a:t>feynmanw@xjtu.edu.cn</a:t>
            </a:r>
            <a:endParaRPr lang="zh-CN" altLang="en-US" sz="1600" b="1" dirty="0">
              <a:solidFill>
                <a:srgbClr val="0070C0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2E744-FD97-4603-A10C-8BDD2F9425C4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269264" y="4102966"/>
            <a:ext cx="2743200" cy="1768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sz="1600" b="1" i="1" dirty="0">
                <a:solidFill>
                  <a:schemeClr val="accent1"/>
                </a:solidFill>
              </a:rPr>
              <a:t>: ) scan to access</a:t>
            </a:r>
            <a:r>
              <a:rPr lang="zh-CN" altLang="en-US" sz="1600" b="1" i="1" dirty="0">
                <a:solidFill>
                  <a:schemeClr val="accent1"/>
                </a:solidFill>
              </a:rPr>
              <a:t> </a:t>
            </a:r>
            <a:endParaRPr lang="en-US" altLang="zh-CN" sz="1600" b="1" dirty="0">
              <a:solidFill>
                <a:schemeClr val="accent1"/>
              </a:solidFill>
            </a:endParaRPr>
          </a:p>
          <a:p>
            <a:pPr>
              <a:lnSpc>
                <a:spcPct val="125000"/>
              </a:lnSpc>
            </a:pPr>
            <a:r>
              <a:rPr lang="en-US" altLang="zh-CN" sz="1200" b="1" dirty="0">
                <a:solidFill>
                  <a:schemeClr val="accent1"/>
                </a:solidFill>
              </a:rPr>
              <a:t>- 30 indoor daily activities </a:t>
            </a:r>
          </a:p>
          <a:p>
            <a:pPr>
              <a:lnSpc>
                <a:spcPct val="125000"/>
              </a:lnSpc>
            </a:pPr>
            <a:r>
              <a:rPr lang="en-US" altLang="zh-CN" sz="1200" b="1" dirty="0">
                <a:solidFill>
                  <a:schemeClr val="accent1"/>
                </a:solidFill>
              </a:rPr>
              <a:t>- 853 sequences (16h 16m 8s)</a:t>
            </a:r>
          </a:p>
          <a:p>
            <a:pPr>
              <a:lnSpc>
                <a:spcPct val="125000"/>
              </a:lnSpc>
            </a:pPr>
            <a:r>
              <a:rPr lang="en-US" altLang="zh-CN" sz="1200" b="1" dirty="0">
                <a:solidFill>
                  <a:schemeClr val="accent1"/>
                </a:solidFill>
              </a:rPr>
              <a:t>- 16 volunteers</a:t>
            </a:r>
          </a:p>
          <a:p>
            <a:pPr>
              <a:lnSpc>
                <a:spcPct val="125000"/>
              </a:lnSpc>
            </a:pPr>
            <a:r>
              <a:rPr lang="en-US" altLang="zh-CN" sz="1200" b="1" dirty="0">
                <a:solidFill>
                  <a:schemeClr val="accent1"/>
                </a:solidFill>
              </a:rPr>
              <a:t>- </a:t>
            </a:r>
            <a:r>
              <a:rPr lang="en-US" altLang="zh-CN" sz="1200" b="1" dirty="0">
                <a:solidFill>
                  <a:srgbClr val="FF0000"/>
                </a:solidFill>
              </a:rPr>
              <a:t>Paired</a:t>
            </a:r>
            <a:r>
              <a:rPr lang="en-US" altLang="zh-CN" sz="1200" b="1" dirty="0">
                <a:solidFill>
                  <a:schemeClr val="accent1"/>
                </a:solidFill>
              </a:rPr>
              <a:t> </a:t>
            </a:r>
            <a:r>
              <a:rPr lang="en-GB" altLang="zh-CN" sz="1200" b="1" dirty="0">
                <a:solidFill>
                  <a:schemeClr val="accent1"/>
                </a:solidFill>
              </a:rPr>
              <a:t>Wi-Fi, 6 IMUs, RGB+D+IR</a:t>
            </a:r>
          </a:p>
          <a:p>
            <a:pPr>
              <a:lnSpc>
                <a:spcPct val="125000"/>
              </a:lnSpc>
            </a:pPr>
            <a:r>
              <a:rPr lang="en-GB" altLang="zh-CN" sz="1200" b="1" dirty="0">
                <a:solidFill>
                  <a:schemeClr val="accent1"/>
                </a:solidFill>
              </a:rPr>
              <a:t>- Action localization, Action forecasting, Pose estimation, …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804" y="2083123"/>
            <a:ext cx="1928867" cy="1903487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1043563" y="5987819"/>
            <a:ext cx="89526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70C0"/>
                </a:solidFill>
              </a:rPr>
              <a:t>To access XRF V2, https://</a:t>
            </a:r>
            <a:r>
              <a:rPr lang="en-US" altLang="zh-CN" sz="2000" b="1" dirty="0" err="1">
                <a:solidFill>
                  <a:srgbClr val="0070C0"/>
                </a:solidFill>
              </a:rPr>
              <a:t>github.com</a:t>
            </a:r>
            <a:r>
              <a:rPr lang="en-US" altLang="zh-CN" sz="2000" b="1" dirty="0">
                <a:solidFill>
                  <a:srgbClr val="0070C0"/>
                </a:solidFill>
              </a:rPr>
              <a:t>/</a:t>
            </a:r>
            <a:r>
              <a:rPr lang="en-US" altLang="zh-CN" sz="2000" b="1" dirty="0" err="1">
                <a:solidFill>
                  <a:srgbClr val="0070C0"/>
                </a:solidFill>
              </a:rPr>
              <a:t>aiotgroup</a:t>
            </a:r>
            <a:r>
              <a:rPr lang="en-US" altLang="zh-CN" sz="2000" b="1" dirty="0">
                <a:solidFill>
                  <a:srgbClr val="0070C0"/>
                </a:solidFill>
              </a:rPr>
              <a:t>/XRFV2</a:t>
            </a:r>
            <a:endParaRPr lang="zh-CN" altLang="en-US" sz="2000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641</TotalTime>
  <Words>2562</Words>
  <Application>Microsoft Office PowerPoint</Application>
  <PresentationFormat>宽屏</PresentationFormat>
  <Paragraphs>279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Open Sans</vt:lpstr>
      <vt:lpstr>unset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Human Indoor Action Understanding (HIAU):  Enabling Intelligent Environment</vt:lpstr>
      <vt:lpstr>A New HIAU Task: Action Summarization</vt:lpstr>
      <vt:lpstr>Existing Datasets Present Limitations for Action Summarization</vt:lpstr>
      <vt:lpstr>XRF V2: A Novel Dataset for Indoor Action Summarization</vt:lpstr>
      <vt:lpstr>Diverse Indoor Scenarios &amp; Actions</vt:lpstr>
      <vt:lpstr>Continuous Action Sequences Example</vt:lpstr>
      <vt:lpstr>How Was the XRF V2 Dataset Collected and Annotated?</vt:lpstr>
      <vt:lpstr>XRFMamba: Advancing Temporal Action Localization for Action Summarization</vt:lpstr>
      <vt:lpstr>XRFMamba: Superior Performance in Action Localization</vt:lpstr>
      <vt:lpstr>XRFMamba: Superior Performance in Action Localization</vt:lpstr>
      <vt:lpstr>Summarization Results: Evaluating XRFMamba with LLMs</vt:lpstr>
      <vt:lpstr>Device Combination Flexibility in XRF V2 Dataset</vt:lpstr>
      <vt:lpstr>Good Zero-shot Generalizability</vt:lpstr>
      <vt:lpstr>XRF V2: Unlocking New Research Opportunities</vt:lpstr>
      <vt:lpstr>XRF V2: Unlocking New Research Opportunities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Bo L an</dc:creator>
  <cp:lastModifiedBy>NUOSEN</cp:lastModifiedBy>
  <cp:revision>40</cp:revision>
  <dcterms:created xsi:type="dcterms:W3CDTF">2025-02-08T08:58:00Z</dcterms:created>
  <dcterms:modified xsi:type="dcterms:W3CDTF">2025-10-16T11:43:35Z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A60F5F56C4A6435B827C03F2B57D9FE6_12</vt:lpwstr>
  </property>
  <property fmtid="{D5CDD505-2E9C-101B-9397-08002B2CF9AE}" pid="3" name="KSOProductBuildVer">
    <vt:lpwstr>2052-12.1.0.22175</vt:lpwstr>
  </property>
</Properties>
</file>